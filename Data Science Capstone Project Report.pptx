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8.jpg"/><Relationship Id="rId4" Type="http://schemas.openxmlformats.org/officeDocument/2006/relationships/image" Target="../media/image19.jpg"/><Relationship Id="rId5" Type="http://schemas.openxmlformats.org/officeDocument/2006/relationships/image" Target="../media/image7.jpg"/><Relationship Id="rId6" Type="http://schemas.openxmlformats.org/officeDocument/2006/relationships/image" Target="../media/image6.jpg"/><Relationship Id="rId7" Type="http://schemas.openxmlformats.org/officeDocument/2006/relationships/image" Target="../media/image16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F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E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15600" y="548640"/>
            <a:ext cx="1371600" cy="1371600"/>
          </a:xfrm>
          <a:prstGeom prst="rect">
            <a:avLst/>
          </a:prstGeom>
          <a:solidFill>
            <a:srgbClr val="2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07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Aptos Display"/>
              </a:rPr>
              <a:t>SpaceX Falcon 9 Landing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560320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DDE6F2"/>
                </a:solidFill>
                <a:latin typeface="Aptos"/>
              </a:rPr>
              <a:t>Applied data collection, SQL analysis, interactive visualization, and classification modeling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03320"/>
            <a:ext cx="9601200" cy="749808"/>
          </a:xfrm>
          <a:prstGeom prst="roundRect">
            <a:avLst/>
          </a:prstGeom>
          <a:solidFill>
            <a:srgbClr val="233454"/>
          </a:solidFill>
          <a:ln>
            <a:solidFill>
              <a:srgbClr val="465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862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Aptos"/>
              </a:rPr>
              <a:t>GitHub repository: https://github.com/cooper-710/Coursera-Capstone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87044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2DCEB"/>
                </a:solidFill>
                <a:latin typeface="Aptos"/>
              </a:rPr>
              <a:t>Final Project Report | PDF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>
                <a:solidFill>
                  <a:srgbClr val="5A6473"/>
                </a:solidFill>
                <a:latin typeface="Aptos"/>
              </a:rPr>
              <a:t>IBM Data Science Capstone | SpaceX Falcon 9 Landing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800">
                <a:solidFill>
                  <a:srgbClr val="12223E"/>
                </a:solidFill>
                <a:latin typeface="Aptos Display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34440" cy="54864"/>
          </a:xfrm>
          <a:prstGeom prst="rect">
            <a:avLst/>
          </a:prstGeom>
          <a:solidFill>
            <a:srgbClr val="6F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5A6473"/>
                </a:solidFill>
                <a:latin typeface="Aptos"/>
              </a:rPr>
              <a:t>Cooper Robinson | GitHub: https://github.com/cooper-710/Coursera-Capstone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1820"/>
                </a:solidFill>
                <a:latin typeface="Aptos"/>
              </a:defRPr>
            </a:pPr>
            <a:r>
              <a:t>This project predicts Falcon 9 first-stage landing success using launch records, launch site data, payload mass, orbit, booster information, and engineered classification features.</a:t>
            </a:r>
          </a:p>
          <a:p>
            <a:pPr>
              <a:spcAft>
                <a:spcPts val="800"/>
              </a:spcAft>
              <a:defRPr sz="1500">
                <a:solidFill>
                  <a:srgbClr val="141820"/>
                </a:solidFill>
                <a:latin typeface="Aptos"/>
              </a:defRPr>
            </a:pPr>
            <a:r>
              <a:t>The workflow covered API collection, web scraping, wrangling, SQL analysis, exploratory visualization, Folium mapping, a Plotly Dash dashboard, and machine learning classification.</a:t>
            </a:r>
          </a:p>
          <a:p>
            <a:pPr>
              <a:spcAft>
                <a:spcPts val="800"/>
              </a:spcAft>
              <a:defRPr sz="1500">
                <a:solidFill>
                  <a:srgbClr val="141820"/>
                </a:solidFill>
                <a:latin typeface="Aptos"/>
              </a:defRPr>
            </a:pPr>
            <a:r>
              <a:t>EDA showed landing success improved over time and varied by launch site, orbit type, payload range, and booster version.</a:t>
            </a:r>
          </a:p>
          <a:p>
            <a:pPr>
              <a:spcAft>
                <a:spcPts val="800"/>
              </a:spcAft>
              <a:defRPr sz="1500">
                <a:solidFill>
                  <a:srgbClr val="141820"/>
                </a:solidFill>
                <a:latin typeface="Aptos"/>
              </a:defRPr>
            </a:pPr>
            <a:r>
              <a:t>Four classification models were tested. Logistic Regression, SVM, Decision Tree, and KNN all reached about 83.3% test accuracy on the held-out test set.</a:t>
            </a:r>
          </a:p>
          <a:p>
            <a:pPr>
              <a:spcAft>
                <a:spcPts val="800"/>
              </a:spcAft>
              <a:defRPr sz="1500">
                <a:solidFill>
                  <a:srgbClr val="141820"/>
                </a:solidFill>
                <a:latin typeface="Aptos"/>
              </a:defRPr>
            </a:pPr>
            <a:r>
              <a:t>The final model predicted successful landings well, but it was weaker at identifying failed landings.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577840"/>
            <a:ext cx="10789920" cy="594360"/>
          </a:xfrm>
          <a:prstGeom prst="roundRect">
            <a:avLst/>
          </a:prstGeom>
          <a:solidFill>
            <a:srgbClr val="E8F1FC"/>
          </a:solidFill>
          <a:ln>
            <a:solidFill>
              <a:srgbClr val="CA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687568"/>
            <a:ext cx="10515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223E"/>
                </a:solidFill>
                <a:latin typeface="Aptos"/>
              </a:rPr>
              <a:t>Primary takeaway: SpaceX landing outcomes are strongly tied to launch maturity, launch context, and vehicle configuration, but failure prediction remains the harder task.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>
                <a:solidFill>
                  <a:srgbClr val="5A6473"/>
                </a:solidFill>
                <a:latin typeface="Aptos"/>
              </a:rPr>
              <a:t>IBM Data Science Capstone | SpaceX Falcon 9 Landing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800">
                <a:solidFill>
                  <a:srgbClr val="12223E"/>
                </a:solidFill>
                <a:latin typeface="Aptos Display"/>
              </a:rPr>
              <a:t>Introduction: Business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34440" cy="54864"/>
          </a:xfrm>
          <a:prstGeom prst="rect">
            <a:avLst/>
          </a:prstGeom>
          <a:solidFill>
            <a:srgbClr val="6F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5A6473"/>
                </a:solidFill>
                <a:latin typeface="Aptos"/>
              </a:rPr>
              <a:t>Cooper Robinson | GitHub: https://github.com/cooper-710/Coursera-Capstone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88136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141820"/>
                </a:solidFill>
                <a:latin typeface="Aptos"/>
              </a:rPr>
              <a:t>SpaceX reduces launch cost by recovering and reusing the Falcon 9 first stage. Predicting whether the first stage will land successfully helps estimate launch economics, operational risk, and mission planning confidence.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514600"/>
            <a:ext cx="3474720" cy="1143000"/>
          </a:xfrm>
          <a:prstGeom prst="roundRect">
            <a:avLst/>
          </a:prstGeom>
          <a:solidFill>
            <a:srgbClr val="F5F7FA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0392" y="2679192"/>
            <a:ext cx="420624" cy="420624"/>
          </a:xfrm>
          <a:prstGeom prst="ellipse">
            <a:avLst/>
          </a:prstGeom>
          <a:solidFill>
            <a:srgbClr val="2E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743200"/>
            <a:ext cx="4206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9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60904"/>
            <a:ext cx="26517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12223E"/>
                </a:solidFill>
                <a:latin typeface="Aptos"/>
              </a:rPr>
              <a:t>Business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017520"/>
            <a:ext cx="2606039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5A6473"/>
                </a:solidFill>
                <a:latin typeface="Aptos"/>
              </a:rPr>
              <a:t>Can launch data predict whether Falcon 9 first stage recovery will succeed?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514600"/>
            <a:ext cx="3474720" cy="1143000"/>
          </a:xfrm>
          <a:prstGeom prst="roundRect">
            <a:avLst/>
          </a:prstGeom>
          <a:solidFill>
            <a:srgbClr val="F5F7FA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07992" y="2679192"/>
            <a:ext cx="420624" cy="420624"/>
          </a:xfrm>
          <a:prstGeom prst="ellipse">
            <a:avLst/>
          </a:prstGeom>
          <a:solidFill>
            <a:srgbClr val="6F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2743200"/>
            <a:ext cx="4206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9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660904"/>
            <a:ext cx="26517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12223E"/>
                </a:solidFill>
                <a:latin typeface="Aptos"/>
              </a:rPr>
              <a:t>Data science goal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017520"/>
            <a:ext cx="2606039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5A6473"/>
                </a:solidFill>
                <a:latin typeface="Aptos"/>
              </a:rPr>
              <a:t>Build a complete workflow from raw data collection to predictive classification.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2514600"/>
            <a:ext cx="3474720" cy="1143000"/>
          </a:xfrm>
          <a:prstGeom prst="roundRect">
            <a:avLst/>
          </a:prstGeom>
          <a:solidFill>
            <a:srgbClr val="F5F7FA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65592" y="2679192"/>
            <a:ext cx="420624" cy="420624"/>
          </a:xfrm>
          <a:prstGeom prst="ellipse">
            <a:avLst/>
          </a:prstGeom>
          <a:solidFill>
            <a:srgbClr val="239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65592" y="2743200"/>
            <a:ext cx="4206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9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660904"/>
            <a:ext cx="26517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12223E"/>
                </a:solidFill>
                <a:latin typeface="Aptos"/>
              </a:rPr>
              <a:t>Decision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017520"/>
            <a:ext cx="2606039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5A6473"/>
                </a:solidFill>
                <a:latin typeface="Aptos"/>
              </a:rPr>
              <a:t>Identify launch patterns that increase or reduce landing success likelihood.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069080"/>
            <a:ext cx="10332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141820"/>
                </a:solidFill>
                <a:latin typeface="Aptos"/>
              </a:defRPr>
            </a:pPr>
            <a:r>
              <a:t>Target variable: Class, where 1 indicates landing success and 0 indicates unsuccessful or no landing.</a:t>
            </a:r>
          </a:p>
          <a:p>
            <a:pPr>
              <a:spcAft>
                <a:spcPts val="800"/>
              </a:spcAft>
              <a:defRPr sz="1350">
                <a:solidFill>
                  <a:srgbClr val="141820"/>
                </a:solidFill>
                <a:latin typeface="Aptos"/>
              </a:defRPr>
            </a:pPr>
            <a:r>
              <a:t>Core features: payload mass, orbit, launch site, flight number, booster version, reuse indicators, and launch hardware variables.</a:t>
            </a:r>
          </a:p>
          <a:p>
            <a:pPr>
              <a:spcAft>
                <a:spcPts val="800"/>
              </a:spcAft>
              <a:defRPr sz="1350">
                <a:solidFill>
                  <a:srgbClr val="141820"/>
                </a:solidFill>
                <a:latin typeface="Aptos"/>
              </a:defRPr>
            </a:pPr>
            <a:r>
              <a:t>Final deliverable: PDF report plus GitHub repository containing notebooks, dashboard app, and screenshots.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>
                <a:solidFill>
                  <a:srgbClr val="5A6473"/>
                </a:solidFill>
                <a:latin typeface="Aptos"/>
              </a:rPr>
              <a:t>IBM Data Science Capstone | SpaceX Falcon 9 Landing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800">
                <a:solidFill>
                  <a:srgbClr val="12223E"/>
                </a:solidFill>
                <a:latin typeface="Aptos Display"/>
              </a:rPr>
              <a:t>Project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34440" cy="54864"/>
          </a:xfrm>
          <a:prstGeom prst="rect">
            <a:avLst/>
          </a:prstGeom>
          <a:solidFill>
            <a:srgbClr val="6F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5A6473"/>
                </a:solidFill>
                <a:latin typeface="Aptos"/>
              </a:rPr>
              <a:t>Cooper Robinson | GitHub: https://github.com/cooper-710/Coursera-Capstone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342900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0392" y="1719072"/>
            <a:ext cx="420624" cy="420624"/>
          </a:xfrm>
          <a:prstGeom prst="ellipse">
            <a:avLst/>
          </a:prstGeom>
          <a:solidFill>
            <a:srgbClr val="2E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783080"/>
            <a:ext cx="4206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9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700784"/>
            <a:ext cx="26060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12223E"/>
                </a:solidFill>
                <a:latin typeface="Aptos"/>
              </a:rPr>
              <a:t>Collect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057400"/>
            <a:ext cx="2560320" cy="7315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5A6473"/>
                </a:solidFill>
                <a:latin typeface="Aptos"/>
              </a:rPr>
              <a:t>SpaceX API and web scraping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342900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53712" y="1719072"/>
            <a:ext cx="420624" cy="420624"/>
          </a:xfrm>
          <a:prstGeom prst="ellipse">
            <a:avLst/>
          </a:prstGeom>
          <a:solidFill>
            <a:srgbClr val="6F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783080"/>
            <a:ext cx="4206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9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1700784"/>
            <a:ext cx="26060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12223E"/>
                </a:solidFill>
                <a:latin typeface="Aptos"/>
              </a:rPr>
              <a:t>Wrangle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2057400"/>
            <a:ext cx="2560320" cy="7315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5A6473"/>
                </a:solidFill>
                <a:latin typeface="Aptos"/>
              </a:rPr>
              <a:t>Clean, filter Falcon 9, build Class label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554480"/>
            <a:ext cx="342900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57031" y="1719072"/>
            <a:ext cx="420624" cy="420624"/>
          </a:xfrm>
          <a:prstGeom prst="ellipse">
            <a:avLst/>
          </a:prstGeom>
          <a:solidFill>
            <a:srgbClr val="239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1" y="1783080"/>
            <a:ext cx="4206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9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700784"/>
            <a:ext cx="26060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12223E"/>
                </a:solidFill>
                <a:latin typeface="Aptos"/>
              </a:rPr>
              <a:t>Explore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2057400"/>
            <a:ext cx="2560320" cy="7315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5A6473"/>
                </a:solidFill>
                <a:latin typeface="Aptos"/>
              </a:rPr>
              <a:t>EDA charts and SQL summaries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383280"/>
            <a:ext cx="342900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50392" y="3547872"/>
            <a:ext cx="420624" cy="420624"/>
          </a:xfrm>
          <a:prstGeom prst="ellipse">
            <a:avLst/>
          </a:prstGeom>
          <a:solidFill>
            <a:srgbClr val="E67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" y="3611880"/>
            <a:ext cx="4206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9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529584"/>
            <a:ext cx="26060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12223E"/>
                </a:solidFill>
                <a:latin typeface="Aptos"/>
              </a:rPr>
              <a:t>Visualize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886200"/>
            <a:ext cx="2560320" cy="7315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5A6473"/>
                </a:solidFill>
                <a:latin typeface="Aptos"/>
              </a:rPr>
              <a:t>Folium maps and Dash dashboard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3383280"/>
            <a:ext cx="342900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53712" y="3547872"/>
            <a:ext cx="420624" cy="420624"/>
          </a:xfrm>
          <a:prstGeom prst="ellipse">
            <a:avLst/>
          </a:prstGeom>
          <a:solidFill>
            <a:srgbClr val="2E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53712" y="3611880"/>
            <a:ext cx="4206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90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3529584"/>
            <a:ext cx="26060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12223E"/>
                </a:solidFill>
                <a:latin typeface="Aptos"/>
              </a:rPr>
              <a:t>Model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3886200"/>
            <a:ext cx="2560320" cy="7315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5A6473"/>
                </a:solidFill>
                <a:latin typeface="Aptos"/>
              </a:rPr>
              <a:t>Classification with tuned ML models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2440" y="3383280"/>
            <a:ext cx="342900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57031" y="3547872"/>
            <a:ext cx="420624" cy="420624"/>
          </a:xfrm>
          <a:prstGeom prst="ellipse">
            <a:avLst/>
          </a:prstGeom>
          <a:solidFill>
            <a:srgbClr val="6F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57031" y="3611880"/>
            <a:ext cx="4206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90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3529584"/>
            <a:ext cx="26060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12223E"/>
                </a:solidFill>
                <a:latin typeface="Aptos"/>
              </a:rPr>
              <a:t>Report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3886200"/>
            <a:ext cx="2560320" cy="7315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5A6473"/>
                </a:solidFill>
                <a:latin typeface="Aptos"/>
              </a:rPr>
              <a:t>GitHub, PowerPoint, and PDF submission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5486400"/>
            <a:ext cx="10744200" cy="594360"/>
          </a:xfrm>
          <a:prstGeom prst="roundRect">
            <a:avLst/>
          </a:prstGeom>
          <a:solidFill>
            <a:srgbClr val="E8F1FC"/>
          </a:solidFill>
          <a:ln>
            <a:solidFill>
              <a:srgbClr val="CA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596128"/>
            <a:ext cx="10469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223E"/>
                </a:solidFill>
                <a:latin typeface="Aptos"/>
              </a:rPr>
              <a:t>The project was built as a technical report, not just a high-level executive summary. Each section includes method, result, and interpretation.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>
                <a:solidFill>
                  <a:srgbClr val="5A6473"/>
                </a:solidFill>
                <a:latin typeface="Aptos"/>
              </a:rPr>
              <a:t>IBM Data Science Capstone | SpaceX Falcon 9 Landing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800">
                <a:solidFill>
                  <a:srgbClr val="12223E"/>
                </a:solidFill>
                <a:latin typeface="Aptos Display"/>
              </a:rPr>
              <a:t>GitHub Repository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34440" cy="54864"/>
          </a:xfrm>
          <a:prstGeom prst="rect">
            <a:avLst/>
          </a:prstGeom>
          <a:solidFill>
            <a:srgbClr val="6F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5A6473"/>
                </a:solidFill>
                <a:latin typeface="Aptos"/>
              </a:rPr>
              <a:t>Cooper Robinson | GitHub: https://github.com/cooper-710/Coursera-Capstone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2468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5A6473"/>
                </a:solidFill>
                <a:latin typeface="Aptos"/>
              </a:rPr>
              <a:t>Repository link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105156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2E6CB0"/>
                </a:solidFill>
                <a:latin typeface="Aptos"/>
              </a:rPr>
              <a:t>https://github.com/cooper-710/Coursera-Capstone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2514600"/>
          <a:ext cx="108813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4114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Folder / File</a:t>
                      </a:r>
                    </a:p>
                  </a:txBody>
                  <a:tcPr marL="45720" marR="45720" marT="27432" marB="27432">
                    <a:solidFill>
                      <a:srgbClr val="1222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Purpose</a:t>
                      </a:r>
                    </a:p>
                  </a:txBody>
                  <a:tcPr marL="45720" marR="45720" marT="27432" marB="27432">
                    <a:solidFill>
                      <a:srgbClr val="1222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1820"/>
                          </a:solidFill>
                          <a:latin typeface="Aptos"/>
                        </a:rPr>
                        <a:t>notebooks/</a:t>
                      </a:r>
                    </a:p>
                  </a:txBody>
                  <a:tcPr marL="45720" marR="45720" marT="27432" marB="27432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1820"/>
                          </a:solidFill>
                          <a:latin typeface="Aptos"/>
                        </a:rPr>
                        <a:t>All completed Jupyter notebooks for data collection, wrangling, EDA, SQL, maps, and machine learning</a:t>
                      </a:r>
                    </a:p>
                  </a:txBody>
                  <a:tcPr marL="45720" marR="45720" marT="27432" marB="27432">
                    <a:solidFill>
                      <a:srgbClr val="FAFC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1820"/>
                          </a:solidFill>
                          <a:latin typeface="Aptos"/>
                        </a:rPr>
                        <a:t>dashboard/</a:t>
                      </a:r>
                    </a:p>
                  </a:txBody>
                  <a:tcPr marL="45720" marR="45720" marT="27432" marB="27432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1820"/>
                          </a:solidFill>
                          <a:latin typeface="Aptos"/>
                        </a:rPr>
                        <a:t>Plotly Dash application file</a:t>
                      </a:r>
                    </a:p>
                  </a:txBody>
                  <a:tcPr marL="45720" marR="45720" marT="27432" marB="27432">
                    <a:solidFill>
                      <a:srgbClr val="F0F4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1820"/>
                          </a:solidFill>
                          <a:latin typeface="Aptos"/>
                        </a:rPr>
                        <a:t>images/</a:t>
                      </a:r>
                    </a:p>
                  </a:txBody>
                  <a:tcPr marL="45720" marR="45720" marT="27432" marB="27432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1820"/>
                          </a:solidFill>
                          <a:latin typeface="Aptos"/>
                        </a:rPr>
                        <a:t>Screenshots and chart outputs used in the final report</a:t>
                      </a:r>
                    </a:p>
                  </a:txBody>
                  <a:tcPr marL="45720" marR="45720" marT="27432" marB="27432">
                    <a:solidFill>
                      <a:srgbClr val="FAFC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1820"/>
                          </a:solidFill>
                          <a:latin typeface="Aptos"/>
                        </a:rPr>
                        <a:t>README.md</a:t>
                      </a:r>
                    </a:p>
                  </a:txBody>
                  <a:tcPr marL="45720" marR="45720" marT="27432" marB="27432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1820"/>
                          </a:solidFill>
                          <a:latin typeface="Aptos"/>
                        </a:rPr>
                        <a:t>Project overview, methods, questions, and repository structure</a:t>
                      </a:r>
                    </a:p>
                  </a:txBody>
                  <a:tcPr marL="45720" marR="45720" marT="27432" marB="27432">
                    <a:solidFill>
                      <a:srgbClr val="F0F4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1820"/>
                          </a:solidFill>
                          <a:latin typeface="Aptos"/>
                        </a:rPr>
                        <a:t>requirements.txt</a:t>
                      </a:r>
                    </a:p>
                  </a:txBody>
                  <a:tcPr marL="45720" marR="45720" marT="27432" marB="27432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1820"/>
                          </a:solidFill>
                          <a:latin typeface="Aptos"/>
                        </a:rPr>
                        <a:t>Python packages needed to rerun the analysis</a:t>
                      </a:r>
                    </a:p>
                  </a:txBody>
                  <a:tcPr marL="45720" marR="45720" marT="27432" marB="27432">
                    <a:solidFill>
                      <a:srgbClr val="FAFC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68680" y="5440680"/>
            <a:ext cx="10469880" cy="502920"/>
          </a:xfrm>
          <a:prstGeom prst="roundRect">
            <a:avLst/>
          </a:prstGeom>
          <a:solidFill>
            <a:srgbClr val="E8F1FC"/>
          </a:solidFill>
          <a:ln>
            <a:solidFill>
              <a:srgbClr val="CA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39" y="5550408"/>
            <a:ext cx="101955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223E"/>
                </a:solidFill>
                <a:latin typeface="Aptos"/>
              </a:rPr>
              <a:t>The GitHub repository is included in the PDF report to satisfy the project deliverable requirement.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>
                <a:solidFill>
                  <a:srgbClr val="5A6473"/>
                </a:solidFill>
                <a:latin typeface="Aptos"/>
              </a:rPr>
              <a:t>IBM Data Science Capstone | SpaceX Falcon 9 Landing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800">
                <a:solidFill>
                  <a:srgbClr val="12223E"/>
                </a:solidFill>
                <a:latin typeface="Aptos Display"/>
              </a:rPr>
              <a:t>Data Collection 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34440" cy="54864"/>
          </a:xfrm>
          <a:prstGeom prst="rect">
            <a:avLst/>
          </a:prstGeom>
          <a:solidFill>
            <a:srgbClr val="6F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5A6473"/>
                </a:solidFill>
                <a:latin typeface="Aptos"/>
              </a:rPr>
              <a:t>Cooper Robinson | GitHub: https://github.com/cooper-710/Coursera-Capstone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394960" cy="1463040"/>
          </a:xfrm>
          <a:prstGeom prst="roundRect">
            <a:avLst/>
          </a:prstGeom>
          <a:solidFill>
            <a:srgbClr val="F5F7FA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0392" y="1581912"/>
            <a:ext cx="420624" cy="420624"/>
          </a:xfrm>
          <a:prstGeom prst="ellipse">
            <a:avLst/>
          </a:prstGeom>
          <a:solidFill>
            <a:srgbClr val="2E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645920"/>
            <a:ext cx="4206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9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563624"/>
            <a:ext cx="45720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12223E"/>
                </a:solidFill>
                <a:latin typeface="Aptos"/>
              </a:rPr>
              <a:t>SpaceX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20240"/>
            <a:ext cx="4526280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5A6473"/>
                </a:solidFill>
                <a:latin typeface="Aptos"/>
              </a:rPr>
              <a:t>Collected structured launch details including payloads, launch sites, booster data, landing outcomes, dates, and mission metadata.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257800" cy="1463040"/>
          </a:xfrm>
          <a:prstGeom prst="roundRect">
            <a:avLst/>
          </a:prstGeom>
          <a:solidFill>
            <a:srgbClr val="F5F7FA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8231" y="1581912"/>
            <a:ext cx="420624" cy="420624"/>
          </a:xfrm>
          <a:prstGeom prst="ellipse">
            <a:avLst/>
          </a:prstGeom>
          <a:solidFill>
            <a:srgbClr val="6F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1" y="1645920"/>
            <a:ext cx="4206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9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1563624"/>
            <a:ext cx="44348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12223E"/>
                </a:solidFill>
                <a:latin typeface="Aptos"/>
              </a:rPr>
              <a:t>Web scraping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1920240"/>
            <a:ext cx="4389120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5A6473"/>
                </a:solidFill>
                <a:latin typeface="Aptos"/>
              </a:rPr>
              <a:t>Scraped Falcon 9 launch records from a historical launch table to supplement API data and practice HTML table extraction.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2461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41820"/>
                </a:solidFill>
                <a:latin typeface="Aptos"/>
              </a:defRPr>
            </a:pPr>
            <a:r>
              <a:t>API notebook output included normalized launch data and saved the cleaned records for downstream tasks.</a:t>
            </a:r>
          </a:p>
          <a:p>
            <a:pPr>
              <a:spcAft>
                <a:spcPts val="800"/>
              </a:spcAft>
              <a:defRPr sz="1400">
                <a:solidFill>
                  <a:srgbClr val="141820"/>
                </a:solidFill>
                <a:latin typeface="Aptos"/>
              </a:defRPr>
            </a:pPr>
            <a:r>
              <a:t>Web scraping notebook parsed HTML tables, cleaned inconsistent text, and exported a structured CSV.</a:t>
            </a:r>
          </a:p>
          <a:p>
            <a:pPr>
              <a:spcAft>
                <a:spcPts val="800"/>
              </a:spcAft>
              <a:defRPr sz="1400">
                <a:solidFill>
                  <a:srgbClr val="141820"/>
                </a:solidFill>
                <a:latin typeface="Aptos"/>
              </a:defRPr>
            </a:pPr>
            <a:r>
              <a:t>The combined workflow created a reproducible data source for wrangling, SQL, EDA, dashboarding, and prediction.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143000" y="4892040"/>
          <a:ext cx="987552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/>
                <a:gridCol w="4937760"/>
              </a:tblGrid>
              <a:tr h="3352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Notebook</a:t>
                      </a:r>
                    </a:p>
                  </a:txBody>
                  <a:tcPr marL="45720" marR="45720" marT="27432" marB="27432">
                    <a:solidFill>
                      <a:srgbClr val="1222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Main deliverable</a:t>
                      </a:r>
                    </a:p>
                  </a:txBody>
                  <a:tcPr marL="45720" marR="45720" marT="27432" marB="27432">
                    <a:solidFill>
                      <a:srgbClr val="12223E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1820"/>
                          </a:solidFill>
                          <a:latin typeface="Aptos"/>
                        </a:rPr>
                        <a:t>jupyter-labs-spacex-data-collection-api.ipynb</a:t>
                      </a:r>
                    </a:p>
                  </a:txBody>
                  <a:tcPr marL="45720" marR="45720" marT="27432" marB="27432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1820"/>
                          </a:solidFill>
                          <a:latin typeface="Aptos"/>
                        </a:rPr>
                        <a:t>API dataset from SpaceX launch records</a:t>
                      </a:r>
                    </a:p>
                  </a:txBody>
                  <a:tcPr marL="45720" marR="45720" marT="27432" marB="27432">
                    <a:solidFill>
                      <a:srgbClr val="FAFC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1820"/>
                          </a:solidFill>
                          <a:latin typeface="Aptos"/>
                        </a:rPr>
                        <a:t>jupyter-labs-webscraping.ipynb</a:t>
                      </a:r>
                    </a:p>
                  </a:txBody>
                  <a:tcPr marL="45720" marR="45720" marT="27432" marB="27432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1820"/>
                          </a:solidFill>
                          <a:latin typeface="Aptos"/>
                        </a:rPr>
                        <a:t>Scraped Falcon 9 launch table</a:t>
                      </a:r>
                    </a:p>
                  </a:txBody>
                  <a:tcPr marL="45720" marR="45720" marT="27432" marB="27432"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>
                <a:solidFill>
                  <a:srgbClr val="5A6473"/>
                </a:solidFill>
                <a:latin typeface="Aptos"/>
              </a:rPr>
              <a:t>IBM Data Science Capstone | SpaceX Falcon 9 Landing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800">
                <a:solidFill>
                  <a:srgbClr val="12223E"/>
                </a:solidFill>
                <a:latin typeface="Aptos Display"/>
              </a:rPr>
              <a:t>Data Wrangling and Feature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34440" cy="54864"/>
          </a:xfrm>
          <a:prstGeom prst="rect">
            <a:avLst/>
          </a:prstGeom>
          <a:solidFill>
            <a:srgbClr val="6F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5A6473"/>
                </a:solidFill>
                <a:latin typeface="Aptos"/>
              </a:rPr>
              <a:t>Cooper Robinson | GitHub: https://github.com/cooper-710/Coursera-Capstone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50">
                <a:solidFill>
                  <a:srgbClr val="141820"/>
                </a:solidFill>
                <a:latin typeface="Aptos"/>
              </a:defRPr>
            </a:pPr>
            <a:r>
              <a:t>Filtered the dataset to Falcon 9 records only, excluding Falcon 1.</a:t>
            </a:r>
          </a:p>
          <a:p>
            <a:pPr>
              <a:spcAft>
                <a:spcPts val="800"/>
              </a:spcAft>
              <a:defRPr sz="1450">
                <a:solidFill>
                  <a:srgbClr val="141820"/>
                </a:solidFill>
                <a:latin typeface="Aptos"/>
              </a:defRPr>
            </a:pPr>
            <a:r>
              <a:t>Handled missing payload mass values by using the calculated mean payload mass.</a:t>
            </a:r>
          </a:p>
          <a:p>
            <a:pPr>
              <a:spcAft>
                <a:spcPts val="800"/>
              </a:spcAft>
              <a:defRPr sz="1450">
                <a:solidFill>
                  <a:srgbClr val="141820"/>
                </a:solidFill>
                <a:latin typeface="Aptos"/>
              </a:defRPr>
            </a:pPr>
            <a:r>
              <a:t>Converted raw landing outcomes into a binary Class target for machine learning.</a:t>
            </a:r>
          </a:p>
          <a:p>
            <a:pPr>
              <a:spcAft>
                <a:spcPts val="800"/>
              </a:spcAft>
              <a:defRPr sz="1450">
                <a:solidFill>
                  <a:srgbClr val="141820"/>
                </a:solidFill>
                <a:latin typeface="Aptos"/>
              </a:defRPr>
            </a:pPr>
            <a:r>
              <a:t>Created features for launch site, orbit, payload mass, flight count, grid fins, reused hardware, legs, landing pad, and booster block.</a:t>
            </a:r>
          </a:p>
          <a:p>
            <a:pPr>
              <a:spcAft>
                <a:spcPts val="800"/>
              </a:spcAft>
              <a:defRPr sz="1450">
                <a:solidFill>
                  <a:srgbClr val="141820"/>
                </a:solidFill>
                <a:latin typeface="Aptos"/>
              </a:defRPr>
            </a:pPr>
            <a:r>
              <a:t>Exported cleaned data for later EDA, dashboard, and modeling notebooks.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55080" y="1600200"/>
          <a:ext cx="50292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518160">
                <a:tc>
                  <a:txBody>
                    <a:bodyPr/>
                    <a:lstStyle/>
                    <a:p>
                      <a:r>
                        <a:rPr sz="1080" b="1">
                          <a:solidFill>
                            <a:srgbClr val="FFFFFF"/>
                          </a:solidFill>
                          <a:latin typeface="Aptos"/>
                        </a:rPr>
                        <a:t>Wrangling output</a:t>
                      </a:r>
                    </a:p>
                  </a:txBody>
                  <a:tcPr marL="45720" marR="45720" marT="27432" marB="27432">
                    <a:solidFill>
                      <a:srgbClr val="1222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0" b="1">
                          <a:solidFill>
                            <a:srgbClr val="FFFFFF"/>
                          </a:solidFill>
                          <a:latin typeface="Aptos"/>
                        </a:rPr>
                        <a:t>Value</a:t>
                      </a:r>
                    </a:p>
                  </a:txBody>
                  <a:tcPr marL="45720" marR="45720" marT="27432" marB="27432">
                    <a:solidFill>
                      <a:srgbClr val="12223E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030" b="0">
                          <a:solidFill>
                            <a:srgbClr val="141820"/>
                          </a:solidFill>
                          <a:latin typeface="Aptos"/>
                        </a:rPr>
                        <a:t>Target field</a:t>
                      </a:r>
                    </a:p>
                  </a:txBody>
                  <a:tcPr marL="45720" marR="45720" marT="27432" marB="27432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0" b="0">
                          <a:solidFill>
                            <a:srgbClr val="141820"/>
                          </a:solidFill>
                          <a:latin typeface="Aptos"/>
                        </a:rPr>
                        <a:t>Class</a:t>
                      </a:r>
                    </a:p>
                  </a:txBody>
                  <a:tcPr marL="45720" marR="45720" marT="27432" marB="27432">
                    <a:solidFill>
                      <a:srgbClr val="FAFC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030" b="0">
                          <a:solidFill>
                            <a:srgbClr val="141820"/>
                          </a:solidFill>
                          <a:latin typeface="Aptos"/>
                        </a:rPr>
                        <a:t>Success label</a:t>
                      </a:r>
                    </a:p>
                  </a:txBody>
                  <a:tcPr marL="45720" marR="45720" marT="27432" marB="27432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0" b="0">
                          <a:solidFill>
                            <a:srgbClr val="141820"/>
                          </a:solidFill>
                          <a:latin typeface="Aptos"/>
                        </a:rPr>
                        <a:t>1 = landed</a:t>
                      </a:r>
                    </a:p>
                  </a:txBody>
                  <a:tcPr marL="45720" marR="45720" marT="27432" marB="27432">
                    <a:solidFill>
                      <a:srgbClr val="F0F4F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030" b="0">
                          <a:solidFill>
                            <a:srgbClr val="141820"/>
                          </a:solidFill>
                          <a:latin typeface="Aptos"/>
                        </a:rPr>
                        <a:t>Failure label</a:t>
                      </a:r>
                    </a:p>
                  </a:txBody>
                  <a:tcPr marL="45720" marR="45720" marT="27432" marB="27432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0" b="0">
                          <a:solidFill>
                            <a:srgbClr val="141820"/>
                          </a:solidFill>
                          <a:latin typeface="Aptos"/>
                        </a:rPr>
                        <a:t>0 = did not land</a:t>
                      </a:r>
                    </a:p>
                  </a:txBody>
                  <a:tcPr marL="45720" marR="45720" marT="27432" marB="27432">
                    <a:solidFill>
                      <a:srgbClr val="FAFC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030" b="0">
                          <a:solidFill>
                            <a:srgbClr val="141820"/>
                          </a:solidFill>
                          <a:latin typeface="Aptos"/>
                        </a:rPr>
                        <a:t>Common launch sites</a:t>
                      </a:r>
                    </a:p>
                  </a:txBody>
                  <a:tcPr marL="45720" marR="45720" marT="27432" marB="27432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0" b="0">
                          <a:solidFill>
                            <a:srgbClr val="141820"/>
                          </a:solidFill>
                          <a:latin typeface="Aptos"/>
                        </a:rPr>
                        <a:t>CCAFS SLC 40, KSC LC 39A, VAFB SLC 4E</a:t>
                      </a:r>
                    </a:p>
                  </a:txBody>
                  <a:tcPr marL="45720" marR="45720" marT="27432" marB="27432">
                    <a:solidFill>
                      <a:srgbClr val="F0F4F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030" b="0">
                          <a:solidFill>
                            <a:srgbClr val="141820"/>
                          </a:solidFill>
                          <a:latin typeface="Aptos"/>
                        </a:rPr>
                        <a:t>High-count orbits</a:t>
                      </a:r>
                    </a:p>
                  </a:txBody>
                  <a:tcPr marL="45720" marR="45720" marT="27432" marB="27432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0" b="0">
                          <a:solidFill>
                            <a:srgbClr val="141820"/>
                          </a:solidFill>
                          <a:latin typeface="Aptos"/>
                        </a:rPr>
                        <a:t>GTO, ISS, VLEO, PO</a:t>
                      </a:r>
                    </a:p>
                  </a:txBody>
                  <a:tcPr marL="45720" marR="45720" marT="27432" marB="27432">
                    <a:solidFill>
                      <a:srgbClr val="FAFC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355080" y="5074920"/>
            <a:ext cx="5029200" cy="685800"/>
          </a:xfrm>
          <a:prstGeom prst="roundRect">
            <a:avLst/>
          </a:prstGeom>
          <a:solidFill>
            <a:srgbClr val="E8F1FC"/>
          </a:solidFill>
          <a:ln>
            <a:solidFill>
              <a:srgbClr val="CA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5184648"/>
            <a:ext cx="47548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223E"/>
                </a:solidFill>
                <a:latin typeface="Aptos"/>
              </a:rPr>
              <a:t>This step changed the project from raw historical launch records into a usable supervised classification dataset.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>
                <a:solidFill>
                  <a:srgbClr val="5A6473"/>
                </a:solidFill>
                <a:latin typeface="Aptos"/>
              </a:rPr>
              <a:t>IBM Data Science Capstone | SpaceX Falcon 9 Landing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800">
                <a:solidFill>
                  <a:srgbClr val="12223E"/>
                </a:solidFill>
                <a:latin typeface="Aptos Display"/>
              </a:rPr>
              <a:t>EDA and Visual Analytics 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34440" cy="54864"/>
          </a:xfrm>
          <a:prstGeom prst="rect">
            <a:avLst/>
          </a:prstGeom>
          <a:solidFill>
            <a:srgbClr val="6F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5A6473"/>
                </a:solidFill>
                <a:latin typeface="Aptos"/>
              </a:rPr>
              <a:t>Cooper Robinson | GitHub: https://github.com/cooper-710/Coursera-Capstone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50">
                <a:solidFill>
                  <a:srgbClr val="141820"/>
                </a:solidFill>
                <a:latin typeface="Aptos"/>
              </a:defRPr>
            </a:pPr>
            <a:r>
              <a:t>Used pandas, seaborn, and matplotlib to compare landing outcome patterns across payload mass, flight number, launch site, orbit type, and year.</a:t>
            </a:r>
          </a:p>
          <a:p>
            <a:pPr>
              <a:spcAft>
                <a:spcPts val="800"/>
              </a:spcAft>
              <a:defRPr sz="1450">
                <a:solidFill>
                  <a:srgbClr val="141820"/>
                </a:solidFill>
                <a:latin typeface="Aptos"/>
              </a:defRPr>
            </a:pPr>
            <a:r>
              <a:t>Used SQL to answer structured questions from the launch table, including site lists, payload summaries, outcome counts, and date-filtered records.</a:t>
            </a:r>
          </a:p>
          <a:p>
            <a:pPr>
              <a:spcAft>
                <a:spcPts val="800"/>
              </a:spcAft>
              <a:defRPr sz="1450">
                <a:solidFill>
                  <a:srgbClr val="141820"/>
                </a:solidFill>
                <a:latin typeface="Aptos"/>
              </a:defRPr>
            </a:pPr>
            <a:r>
              <a:t>Used Folium for spatial analysis of launch sites and nearby geography.</a:t>
            </a:r>
          </a:p>
          <a:p>
            <a:pPr>
              <a:spcAft>
                <a:spcPts val="800"/>
              </a:spcAft>
              <a:defRPr sz="1450">
                <a:solidFill>
                  <a:srgbClr val="141820"/>
                </a:solidFill>
                <a:latin typeface="Aptos"/>
              </a:defRPr>
            </a:pPr>
            <a:r>
              <a:t>Used Plotly Dash for an interactive dashboard with dropdown, slider, pie chart, and scatter plot callbacks.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3291840" cy="1143000"/>
          </a:xfrm>
          <a:prstGeom prst="roundRect">
            <a:avLst/>
          </a:prstGeom>
          <a:solidFill>
            <a:srgbClr val="F5F7FA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1832" y="3822191"/>
            <a:ext cx="420624" cy="420624"/>
          </a:xfrm>
          <a:prstGeom prst="ellipse">
            <a:avLst/>
          </a:prstGeom>
          <a:solidFill>
            <a:srgbClr val="2E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3886200"/>
            <a:ext cx="4206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9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803904"/>
            <a:ext cx="2468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12223E"/>
                </a:solidFill>
                <a:latin typeface="Aptos"/>
              </a:rPr>
              <a:t>Static EDA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160520"/>
            <a:ext cx="242316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5A6473"/>
                </a:solidFill>
                <a:latin typeface="Aptos"/>
              </a:rPr>
              <a:t>Scatter, bar, and line charts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3657600"/>
            <a:ext cx="3291840" cy="1143000"/>
          </a:xfrm>
          <a:prstGeom prst="roundRect">
            <a:avLst/>
          </a:prstGeom>
          <a:solidFill>
            <a:srgbClr val="F5F7FA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99431" y="3822191"/>
            <a:ext cx="420624" cy="420624"/>
          </a:xfrm>
          <a:prstGeom prst="ellipse">
            <a:avLst/>
          </a:prstGeom>
          <a:solidFill>
            <a:srgbClr val="6F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1" y="3886200"/>
            <a:ext cx="4206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9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803904"/>
            <a:ext cx="2468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12223E"/>
                </a:solidFill>
                <a:latin typeface="Aptos"/>
              </a:rPr>
              <a:t>SQL EDA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4160520"/>
            <a:ext cx="242316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5A6473"/>
                </a:solidFill>
                <a:latin typeface="Aptos"/>
              </a:rPr>
              <a:t>Relational queries and grouped summaries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3657600"/>
            <a:ext cx="3291840" cy="1143000"/>
          </a:xfrm>
          <a:prstGeom prst="roundRect">
            <a:avLst/>
          </a:prstGeom>
          <a:solidFill>
            <a:srgbClr val="F5F7FA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57031" y="3822191"/>
            <a:ext cx="420624" cy="420624"/>
          </a:xfrm>
          <a:prstGeom prst="ellipse">
            <a:avLst/>
          </a:prstGeom>
          <a:solidFill>
            <a:srgbClr val="239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57031" y="3886200"/>
            <a:ext cx="4206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9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3803904"/>
            <a:ext cx="2468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12223E"/>
                </a:solidFill>
                <a:latin typeface="Aptos"/>
              </a:rPr>
              <a:t>Interactive visual 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4160520"/>
            <a:ext cx="242316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5A6473"/>
                </a:solidFill>
                <a:latin typeface="Aptos"/>
              </a:rPr>
              <a:t>Maps and dashboard filters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349240"/>
            <a:ext cx="10241280" cy="594360"/>
          </a:xfrm>
          <a:prstGeom prst="roundRect">
            <a:avLst/>
          </a:prstGeom>
          <a:solidFill>
            <a:srgbClr val="E8F1FC"/>
          </a:solidFill>
          <a:ln>
            <a:solidFill>
              <a:srgbClr val="CA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458968"/>
            <a:ext cx="996695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223E"/>
                </a:solidFill>
                <a:latin typeface="Aptos"/>
              </a:rPr>
              <a:t>The analysis focused on both interpretability and repeatability, with each method producing outputs for the final report.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>
                <a:solidFill>
                  <a:srgbClr val="5A6473"/>
                </a:solidFill>
                <a:latin typeface="Aptos"/>
              </a:rPr>
              <a:t>IBM Data Science Capstone | SpaceX Falcon 9 Landing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800">
                <a:solidFill>
                  <a:srgbClr val="12223E"/>
                </a:solidFill>
                <a:latin typeface="Aptos Display"/>
              </a:rPr>
              <a:t>EDA Results: Flight Number and Payload Mass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34440" cy="54864"/>
          </a:xfrm>
          <a:prstGeom prst="rect">
            <a:avLst/>
          </a:prstGeom>
          <a:solidFill>
            <a:srgbClr val="6F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5A6473"/>
                </a:solidFill>
                <a:latin typeface="Aptos"/>
              </a:rPr>
              <a:t>Cooper Robinson | GitHub: https://github.com/cooper-710/Coursera-Capstone</a:t>
            </a:r>
          </a:p>
        </p:txBody>
      </p:sp>
      <p:pic>
        <p:nvPicPr>
          <p:cNvPr id="7" name="Picture 6" descr="edadataviz_cell19_out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892" y="1417320"/>
            <a:ext cx="9723734" cy="1874519"/>
          </a:xfrm>
          <a:prstGeom prst="rect">
            <a:avLst/>
          </a:prstGeom>
          <a:ln w="7620">
            <a:solidFill>
              <a:srgbClr val="DCE1EB"/>
            </a:solidFill>
          </a:ln>
        </p:spPr>
      </p:pic>
      <p:pic>
        <p:nvPicPr>
          <p:cNvPr id="8" name="Picture 7" descr="edadataviz_cell36_out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22191"/>
            <a:ext cx="5440680" cy="1088136"/>
          </a:xfrm>
          <a:prstGeom prst="rect">
            <a:avLst/>
          </a:prstGeom>
          <a:ln w="7620">
            <a:solidFill>
              <a:srgbClr val="DCE1EB"/>
            </a:solidFill>
          </a:ln>
        </p:spPr>
      </p:pic>
      <p:pic>
        <p:nvPicPr>
          <p:cNvPr id="9" name="Picture 8" descr="edadataviz_cell40_out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822191"/>
            <a:ext cx="5440680" cy="1088136"/>
          </a:xfrm>
          <a:prstGeom prst="rect">
            <a:avLst/>
          </a:prstGeom>
          <a:ln w="7620">
            <a:solidFill>
              <a:srgbClr val="DCE1EB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777240" y="5303520"/>
            <a:ext cx="10424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141820"/>
                </a:solidFill>
                <a:latin typeface="Aptos"/>
              </a:defRPr>
            </a:pPr>
            <a:r>
              <a:t>Later flights show a higher concentration of successful outcomes.</a:t>
            </a:r>
          </a:p>
          <a:p>
            <a:pPr>
              <a:spcAft>
                <a:spcPts val="800"/>
              </a:spcAft>
              <a:defRPr sz="1250">
                <a:solidFill>
                  <a:srgbClr val="141820"/>
                </a:solidFill>
                <a:latin typeface="Aptos"/>
              </a:defRPr>
            </a:pPr>
            <a:r>
              <a:t>Payload mass alone does not fully explain landing success, but it interacts with launch site, orbit, and booster maturity.</a:t>
            </a:r>
          </a:p>
          <a:p>
            <a:pPr>
              <a:spcAft>
                <a:spcPts val="800"/>
              </a:spcAft>
              <a:defRPr sz="1250">
                <a:solidFill>
                  <a:srgbClr val="141820"/>
                </a:solidFill>
                <a:latin typeface="Aptos"/>
              </a:defRPr>
            </a:pPr>
            <a:r>
              <a:t>Flight number is a useful proxy for operational learning and program maturity.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>
                <a:solidFill>
                  <a:srgbClr val="5A6473"/>
                </a:solidFill>
                <a:latin typeface="Aptos"/>
              </a:rPr>
              <a:t>IBM Data Science Capstone | SpaceX Falcon 9 Landing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800">
                <a:solidFill>
                  <a:srgbClr val="12223E"/>
                </a:solidFill>
                <a:latin typeface="Aptos Display"/>
              </a:rPr>
              <a:t>EDA Results: Launch Site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34440" cy="54864"/>
          </a:xfrm>
          <a:prstGeom prst="rect">
            <a:avLst/>
          </a:prstGeom>
          <a:solidFill>
            <a:srgbClr val="6F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5A6473"/>
                </a:solidFill>
                <a:latin typeface="Aptos"/>
              </a:rPr>
              <a:t>Cooper Robinson | GitHub: https://github.com/cooper-710/Coursera-Capstone</a:t>
            </a:r>
          </a:p>
        </p:txBody>
      </p:sp>
      <p:pic>
        <p:nvPicPr>
          <p:cNvPr id="7" name="Picture 6" descr="edadataviz_cell23_out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417320"/>
            <a:ext cx="9601200" cy="1920240"/>
          </a:xfrm>
          <a:prstGeom prst="rect">
            <a:avLst/>
          </a:prstGeom>
          <a:ln w="7620">
            <a:solidFill>
              <a:srgbClr val="DCE1EB"/>
            </a:solidFill>
          </a:ln>
        </p:spPr>
      </p:pic>
      <p:pic>
        <p:nvPicPr>
          <p:cNvPr id="8" name="Picture 7" descr="edadataviz_cell27_out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960" y="3611880"/>
            <a:ext cx="8229600" cy="1645920"/>
          </a:xfrm>
          <a:prstGeom prst="rect">
            <a:avLst/>
          </a:prstGeom>
          <a:ln w="7620">
            <a:solidFill>
              <a:srgbClr val="DCE1EB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868680" y="5532120"/>
            <a:ext cx="10378440" cy="502920"/>
          </a:xfrm>
          <a:prstGeom prst="roundRect">
            <a:avLst/>
          </a:prstGeom>
          <a:solidFill>
            <a:srgbClr val="E8F1FC"/>
          </a:solidFill>
          <a:ln>
            <a:solidFill>
              <a:srgbClr val="CA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39" y="5641848"/>
            <a:ext cx="1010411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223E"/>
                </a:solidFill>
                <a:latin typeface="Aptos"/>
              </a:rPr>
              <a:t>Launch sites show different success patterns because they support different mission profiles, payload ranges, and orbital requirements.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>
                <a:solidFill>
                  <a:srgbClr val="5A6473"/>
                </a:solidFill>
                <a:latin typeface="Aptos"/>
              </a:rPr>
              <a:t>IBM Data Science Capstone | SpaceX Falcon 9 Landing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800">
                <a:solidFill>
                  <a:srgbClr val="12223E"/>
                </a:solidFill>
                <a:latin typeface="Aptos Display"/>
              </a:rPr>
              <a:t>EDA Results: Orbit Type and Yearly Trend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34440" cy="54864"/>
          </a:xfrm>
          <a:prstGeom prst="rect">
            <a:avLst/>
          </a:prstGeom>
          <a:solidFill>
            <a:srgbClr val="6F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5A6473"/>
                </a:solidFill>
                <a:latin typeface="Aptos"/>
              </a:rPr>
              <a:t>Cooper Robinson | GitHub: https://github.com/cooper-710/Coursera-Capstone</a:t>
            </a:r>
          </a:p>
        </p:txBody>
      </p:sp>
      <p:pic>
        <p:nvPicPr>
          <p:cNvPr id="7" name="Picture 6" descr="edadataviz_cell32_out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472" y="1417320"/>
            <a:ext cx="4776174" cy="2834640"/>
          </a:xfrm>
          <a:prstGeom prst="rect">
            <a:avLst/>
          </a:prstGeom>
          <a:ln w="7620">
            <a:solidFill>
              <a:srgbClr val="DCE1EB"/>
            </a:solidFill>
          </a:ln>
        </p:spPr>
      </p:pic>
      <p:pic>
        <p:nvPicPr>
          <p:cNvPr id="8" name="Picture 7" descr="edadataviz_cell46_out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1592" y="1417320"/>
            <a:ext cx="4776174" cy="2834640"/>
          </a:xfrm>
          <a:prstGeom prst="rect">
            <a:avLst/>
          </a:prstGeom>
          <a:ln w="7620">
            <a:solidFill>
              <a:srgbClr val="DCE1EB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68680" y="4709160"/>
            <a:ext cx="10424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141820"/>
                </a:solidFill>
                <a:latin typeface="Aptos"/>
              </a:defRPr>
            </a:pPr>
            <a:r>
              <a:t>Some orbit types had noticeably higher success rates than others.</a:t>
            </a:r>
          </a:p>
          <a:p>
            <a:pPr>
              <a:spcAft>
                <a:spcPts val="800"/>
              </a:spcAft>
              <a:defRPr sz="1350">
                <a:solidFill>
                  <a:srgbClr val="141820"/>
                </a:solidFill>
                <a:latin typeface="Aptos"/>
              </a:defRPr>
            </a:pPr>
            <a:r>
              <a:t>Average yearly success rate rose sharply after the early Falcon 9 years.</a:t>
            </a:r>
          </a:p>
          <a:p>
            <a:pPr>
              <a:spcAft>
                <a:spcPts val="800"/>
              </a:spcAft>
              <a:defRPr sz="1350">
                <a:solidFill>
                  <a:srgbClr val="141820"/>
                </a:solidFill>
                <a:latin typeface="Aptos"/>
              </a:defRPr>
            </a:pPr>
            <a:r>
              <a:t>The trend supports the idea that reuse and recovery capability improved as SpaceX gained launch experience.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>
                <a:solidFill>
                  <a:srgbClr val="5A6473"/>
                </a:solidFill>
                <a:latin typeface="Aptos"/>
              </a:rPr>
              <a:t>IBM Data Science Capstone | SpaceX Falcon 9 Landing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800">
                <a:solidFill>
                  <a:srgbClr val="12223E"/>
                </a:solidFill>
                <a:latin typeface="Aptos Display"/>
              </a:rPr>
              <a:t>SQL 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34440" cy="54864"/>
          </a:xfrm>
          <a:prstGeom prst="rect">
            <a:avLst/>
          </a:prstGeom>
          <a:solidFill>
            <a:srgbClr val="6F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5A6473"/>
                </a:solidFill>
                <a:latin typeface="Aptos"/>
              </a:rPr>
              <a:t>Cooper Robinson | GitHub: https://github.com/cooper-710/Coursera-Capstone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98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50">
                <a:solidFill>
                  <a:srgbClr val="141820"/>
                </a:solidFill>
                <a:latin typeface="Aptos"/>
              </a:defRPr>
            </a:pPr>
            <a:r>
              <a:t>Loaded the cleaned SpaceX CSV into a SQLite database.</a:t>
            </a:r>
          </a:p>
          <a:p>
            <a:pPr>
              <a:spcAft>
                <a:spcPts val="800"/>
              </a:spcAft>
              <a:defRPr sz="1450">
                <a:solidFill>
                  <a:srgbClr val="141820"/>
                </a:solidFill>
                <a:latin typeface="Aptos"/>
              </a:defRPr>
            </a:pPr>
            <a:r>
              <a:t>Created a working launch table with non-null dates.</a:t>
            </a:r>
          </a:p>
          <a:p>
            <a:pPr>
              <a:spcAft>
                <a:spcPts val="800"/>
              </a:spcAft>
              <a:defRPr sz="1450">
                <a:solidFill>
                  <a:srgbClr val="141820"/>
                </a:solidFill>
                <a:latin typeface="Aptos"/>
              </a:defRPr>
            </a:pPr>
            <a:r>
              <a:t>Used SQL to summarize payload mass, launch sites, booster versions, landing outcomes, and date-specific records.</a:t>
            </a:r>
          </a:p>
          <a:p>
            <a:pPr>
              <a:spcAft>
                <a:spcPts val="800"/>
              </a:spcAft>
              <a:defRPr sz="1450">
                <a:solidFill>
                  <a:srgbClr val="141820"/>
                </a:solidFill>
                <a:latin typeface="Aptos"/>
              </a:defRPr>
            </a:pPr>
            <a:r>
              <a:t>SQL results were used to validate the exploratory analysis and provide reproducible tabular findings.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05840" y="3657600"/>
          <a:ext cx="101498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74920"/>
                <a:gridCol w="5074920"/>
              </a:tblGrid>
              <a:tr h="3048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SQL task category</a:t>
                      </a:r>
                    </a:p>
                  </a:txBody>
                  <a:tcPr marL="45720" marR="45720" marT="27432" marB="27432">
                    <a:solidFill>
                      <a:srgbClr val="1222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Example query result</a:t>
                      </a:r>
                    </a:p>
                  </a:txBody>
                  <a:tcPr marL="45720" marR="45720" marT="27432" marB="27432">
                    <a:solidFill>
                      <a:srgbClr val="12223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1820"/>
                          </a:solidFill>
                          <a:latin typeface="Aptos"/>
                        </a:rPr>
                        <a:t>Launch site list</a:t>
                      </a:r>
                    </a:p>
                  </a:txBody>
                  <a:tcPr marL="45720" marR="45720" marT="27432" marB="27432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1820"/>
                          </a:solidFill>
                          <a:latin typeface="Aptos"/>
                        </a:rPr>
                        <a:t>Four distinct launch sites found</a:t>
                      </a:r>
                    </a:p>
                  </a:txBody>
                  <a:tcPr marL="45720" marR="45720" marT="27432" marB="27432">
                    <a:solidFill>
                      <a:srgbClr val="FAFC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1820"/>
                          </a:solidFill>
                          <a:latin typeface="Aptos"/>
                        </a:rPr>
                        <a:t>Payload aggregation</a:t>
                      </a:r>
                    </a:p>
                  </a:txBody>
                  <a:tcPr marL="45720" marR="45720" marT="27432" marB="27432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1820"/>
                          </a:solidFill>
                          <a:latin typeface="Aptos"/>
                        </a:rPr>
                        <a:t>NASA CRS payload total = 45,596 kg</a:t>
                      </a:r>
                    </a:p>
                  </a:txBody>
                  <a:tcPr marL="45720" marR="45720" marT="27432" marB="27432">
                    <a:solidFill>
                      <a:srgbClr val="F0F4F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1820"/>
                          </a:solidFill>
                          <a:latin typeface="Aptos"/>
                        </a:rPr>
                        <a:t>Booster filtering</a:t>
                      </a:r>
                    </a:p>
                  </a:txBody>
                  <a:tcPr marL="45720" marR="45720" marT="27432" marB="27432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1820"/>
                          </a:solidFill>
                          <a:latin typeface="Aptos"/>
                        </a:rPr>
                        <a:t>Average payload for F9 v1.1 = 2,928.4 kg</a:t>
                      </a:r>
                    </a:p>
                  </a:txBody>
                  <a:tcPr marL="45720" marR="45720" marT="27432" marB="27432">
                    <a:solidFill>
                      <a:srgbClr val="FAFC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1820"/>
                          </a:solidFill>
                          <a:latin typeface="Aptos"/>
                        </a:rPr>
                        <a:t>Date filtering</a:t>
                      </a:r>
                    </a:p>
                  </a:txBody>
                  <a:tcPr marL="45720" marR="45720" marT="27432" marB="27432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1820"/>
                          </a:solidFill>
                          <a:latin typeface="Aptos"/>
                        </a:rPr>
                        <a:t>First successful ground pad landing = 2015-12-22</a:t>
                      </a:r>
                    </a:p>
                  </a:txBody>
                  <a:tcPr marL="45720" marR="45720" marT="27432" marB="27432">
                    <a:solidFill>
                      <a:srgbClr val="F0F4F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1820"/>
                          </a:solidFill>
                          <a:latin typeface="Aptos"/>
                        </a:rPr>
                        <a:t>Outcome grouping</a:t>
                      </a:r>
                    </a:p>
                  </a:txBody>
                  <a:tcPr marL="45720" marR="45720" marT="27432" marB="27432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1820"/>
                          </a:solidFill>
                          <a:latin typeface="Aptos"/>
                        </a:rPr>
                        <a:t>Mission outcomes and landing outcomes counted by category</a:t>
                      </a:r>
                    </a:p>
                  </a:txBody>
                  <a:tcPr marL="45720" marR="45720" marT="27432" marB="27432">
                    <a:solidFill>
                      <a:srgbClr val="FAFC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>
                <a:solidFill>
                  <a:srgbClr val="5A6473"/>
                </a:solidFill>
                <a:latin typeface="Aptos"/>
              </a:rPr>
              <a:t>IBM Data Science Capstone | SpaceX Falcon 9 Landing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800">
                <a:solidFill>
                  <a:srgbClr val="12223E"/>
                </a:solidFill>
                <a:latin typeface="Aptos Display"/>
              </a:rPr>
              <a:t>SQL Results: Core Summary Queries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34440" cy="54864"/>
          </a:xfrm>
          <a:prstGeom prst="rect">
            <a:avLst/>
          </a:prstGeom>
          <a:solidFill>
            <a:srgbClr val="6F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5A6473"/>
                </a:solidFill>
                <a:latin typeface="Aptos"/>
              </a:rPr>
              <a:t>Cooper Robinson | GitHub: https://github.com/cooper-710/Coursera-Capstone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508760"/>
          <a:ext cx="1083564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7820"/>
                <a:gridCol w="5417820"/>
              </a:tblGrid>
              <a:tr h="41148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ptos"/>
                        </a:rPr>
                        <a:t>Question</a:t>
                      </a:r>
                    </a:p>
                  </a:txBody>
                  <a:tcPr marL="45720" marR="45720" marT="27432" marB="27432">
                    <a:solidFill>
                      <a:srgbClr val="1222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ptos"/>
                        </a:rPr>
                        <a:t>SQL result</a:t>
                      </a:r>
                    </a:p>
                  </a:txBody>
                  <a:tcPr marL="45720" marR="45720" marT="27432" marB="27432">
                    <a:solidFill>
                      <a:srgbClr val="1222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820"/>
                          </a:solidFill>
                          <a:latin typeface="Aptos"/>
                        </a:rPr>
                        <a:t>Distinct launch sites</a:t>
                      </a:r>
                    </a:p>
                  </a:txBody>
                  <a:tcPr marL="45720" marR="45720" marT="27432" marB="27432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820"/>
                          </a:solidFill>
                          <a:latin typeface="Aptos"/>
                        </a:rPr>
                        <a:t>CCAFS LC-40, VAFB SLC-4E, KSC LC-39A, CCAFS SLC-40</a:t>
                      </a:r>
                    </a:p>
                  </a:txBody>
                  <a:tcPr marL="45720" marR="45720" marT="27432" marB="27432">
                    <a:solidFill>
                      <a:srgbClr val="FAFC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820"/>
                          </a:solidFill>
                          <a:latin typeface="Aptos"/>
                        </a:rPr>
                        <a:t>Total payload mass for NASA CRS</a:t>
                      </a:r>
                    </a:p>
                  </a:txBody>
                  <a:tcPr marL="45720" marR="45720" marT="27432" marB="27432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820"/>
                          </a:solidFill>
                          <a:latin typeface="Aptos"/>
                        </a:rPr>
                        <a:t>45,596 kg</a:t>
                      </a:r>
                    </a:p>
                  </a:txBody>
                  <a:tcPr marL="45720" marR="45720" marT="27432" marB="27432">
                    <a:solidFill>
                      <a:srgbClr val="F0F4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820"/>
                          </a:solidFill>
                          <a:latin typeface="Aptos"/>
                        </a:rPr>
                        <a:t>Average payload mass for F9 v1.1</a:t>
                      </a:r>
                    </a:p>
                  </a:txBody>
                  <a:tcPr marL="45720" marR="45720" marT="27432" marB="27432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820"/>
                          </a:solidFill>
                          <a:latin typeface="Aptos"/>
                        </a:rPr>
                        <a:t>2,928.4 kg</a:t>
                      </a:r>
                    </a:p>
                  </a:txBody>
                  <a:tcPr marL="45720" marR="45720" marT="27432" marB="27432">
                    <a:solidFill>
                      <a:srgbClr val="FAFC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820"/>
                          </a:solidFill>
                          <a:latin typeface="Aptos"/>
                        </a:rPr>
                        <a:t>First successful ground pad landing</a:t>
                      </a:r>
                    </a:p>
                  </a:txBody>
                  <a:tcPr marL="45720" marR="45720" marT="27432" marB="27432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820"/>
                          </a:solidFill>
                          <a:latin typeface="Aptos"/>
                        </a:rPr>
                        <a:t>2015-12-22</a:t>
                      </a:r>
                    </a:p>
                  </a:txBody>
                  <a:tcPr marL="45720" marR="45720" marT="27432" marB="27432"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8680" y="3977639"/>
            <a:ext cx="10424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41820"/>
                </a:solidFill>
                <a:latin typeface="Aptos"/>
              </a:defRPr>
            </a:pPr>
            <a:r>
              <a:t>The SQL results confirm that the dataset includes multiple launch facilities and mission profiles.</a:t>
            </a:r>
          </a:p>
          <a:p>
            <a:pPr>
              <a:spcAft>
                <a:spcPts val="800"/>
              </a:spcAft>
              <a:defRPr sz="1400">
                <a:solidFill>
                  <a:srgbClr val="141820"/>
                </a:solidFill>
                <a:latin typeface="Aptos"/>
              </a:defRPr>
            </a:pPr>
            <a:r>
              <a:t>Payload mass summaries give context for mission scale and customer-specific launch activity.</a:t>
            </a:r>
          </a:p>
          <a:p>
            <a:pPr>
              <a:spcAft>
                <a:spcPts val="800"/>
              </a:spcAft>
              <a:defRPr sz="1400">
                <a:solidFill>
                  <a:srgbClr val="141820"/>
                </a:solidFill>
                <a:latin typeface="Aptos"/>
              </a:defRPr>
            </a:pPr>
            <a:r>
              <a:t>The first ground pad recovery date provides a clear milestone in the recovery timeline.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486400"/>
            <a:ext cx="10424160" cy="502920"/>
          </a:xfrm>
          <a:prstGeom prst="roundRect">
            <a:avLst/>
          </a:prstGeom>
          <a:solidFill>
            <a:srgbClr val="E8F1FC"/>
          </a:solidFill>
          <a:ln>
            <a:solidFill>
              <a:srgbClr val="CA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39" y="5596128"/>
            <a:ext cx="10149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223E"/>
                </a:solidFill>
                <a:latin typeface="Aptos"/>
              </a:rPr>
              <a:t>SQL adds structure and auditability. The same questions can be rerun directly against the cleaned launch table.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>
                <a:solidFill>
                  <a:srgbClr val="5A6473"/>
                </a:solidFill>
                <a:latin typeface="Aptos"/>
              </a:rPr>
              <a:t>IBM Data Science Capstone | SpaceX Falcon 9 Landing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800">
                <a:solidFill>
                  <a:srgbClr val="12223E"/>
                </a:solidFill>
                <a:latin typeface="Aptos Display"/>
              </a:rPr>
              <a:t>SQL Results: Landing Outcome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34440" cy="54864"/>
          </a:xfrm>
          <a:prstGeom prst="rect">
            <a:avLst/>
          </a:prstGeom>
          <a:solidFill>
            <a:srgbClr val="6F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5A6473"/>
                </a:solidFill>
                <a:latin typeface="Aptos"/>
              </a:rPr>
              <a:t>Cooper Robinson | GitHub: https://github.com/cooper-710/Coursera-Capstone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53035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457200">
                <a:tc>
                  <a:txBody>
                    <a:bodyPr/>
                    <a:lstStyle/>
                    <a:p>
                      <a:r>
                        <a:rPr sz="1090" b="1">
                          <a:solidFill>
                            <a:srgbClr val="FFFFFF"/>
                          </a:solidFill>
                          <a:latin typeface="Aptos"/>
                        </a:rPr>
                        <a:t>Landing outcome between 2010-06-04 and 2017-03-20</a:t>
                      </a:r>
                    </a:p>
                  </a:txBody>
                  <a:tcPr marL="45720" marR="45720" marT="27432" marB="27432">
                    <a:solidFill>
                      <a:srgbClr val="1222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90" b="1">
                          <a:solidFill>
                            <a:srgbClr val="FFFFFF"/>
                          </a:solidFill>
                          <a:latin typeface="Aptos"/>
                        </a:rPr>
                        <a:t>Count</a:t>
                      </a:r>
                    </a:p>
                  </a:txBody>
                  <a:tcPr marL="45720" marR="45720" marT="27432" marB="27432">
                    <a:solidFill>
                      <a:srgbClr val="1222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40" b="0">
                          <a:solidFill>
                            <a:srgbClr val="141820"/>
                          </a:solidFill>
                          <a:latin typeface="Aptos"/>
                        </a:rPr>
                        <a:t>No attempt</a:t>
                      </a:r>
                    </a:p>
                  </a:txBody>
                  <a:tcPr marL="45720" marR="45720" marT="27432" marB="27432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40" b="0">
                          <a:solidFill>
                            <a:srgbClr val="141820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 marL="45720" marR="45720" marT="27432" marB="27432">
                    <a:solidFill>
                      <a:srgbClr val="FAFC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40" b="0">
                          <a:solidFill>
                            <a:srgbClr val="141820"/>
                          </a:solidFill>
                          <a:latin typeface="Aptos"/>
                        </a:rPr>
                        <a:t>Success (drone ship)</a:t>
                      </a:r>
                    </a:p>
                  </a:txBody>
                  <a:tcPr marL="45720" marR="45720" marT="27432" marB="27432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40" b="0">
                          <a:solidFill>
                            <a:srgbClr val="141820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45720" marR="45720" marT="27432" marB="27432">
                    <a:solidFill>
                      <a:srgbClr val="F0F4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40" b="0">
                          <a:solidFill>
                            <a:srgbClr val="141820"/>
                          </a:solidFill>
                          <a:latin typeface="Aptos"/>
                        </a:rPr>
                        <a:t>Failure (drone ship)</a:t>
                      </a:r>
                    </a:p>
                  </a:txBody>
                  <a:tcPr marL="45720" marR="45720" marT="27432" marB="27432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40" b="0">
                          <a:solidFill>
                            <a:srgbClr val="141820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45720" marR="45720" marT="27432" marB="27432">
                    <a:solidFill>
                      <a:srgbClr val="FAFC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40" b="0">
                          <a:solidFill>
                            <a:srgbClr val="141820"/>
                          </a:solidFill>
                          <a:latin typeface="Aptos"/>
                        </a:rPr>
                        <a:t>Success (ground pad)</a:t>
                      </a:r>
                    </a:p>
                  </a:txBody>
                  <a:tcPr marL="45720" marR="45720" marT="27432" marB="27432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40" b="0">
                          <a:solidFill>
                            <a:srgbClr val="141820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45720" marR="45720" marT="27432" marB="27432">
                    <a:solidFill>
                      <a:srgbClr val="F0F4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40" b="0">
                          <a:solidFill>
                            <a:srgbClr val="141820"/>
                          </a:solidFill>
                          <a:latin typeface="Aptos"/>
                        </a:rPr>
                        <a:t>Controlled (ocean)</a:t>
                      </a:r>
                    </a:p>
                  </a:txBody>
                  <a:tcPr marL="45720" marR="45720" marT="27432" marB="27432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40" b="0">
                          <a:solidFill>
                            <a:srgbClr val="141820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45720" marR="45720" marT="27432" marB="27432">
                    <a:solidFill>
                      <a:srgbClr val="FAFC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40" b="0">
                          <a:solidFill>
                            <a:srgbClr val="141820"/>
                          </a:solidFill>
                          <a:latin typeface="Aptos"/>
                        </a:rPr>
                        <a:t>Uncontrolled (ocean)</a:t>
                      </a:r>
                    </a:p>
                  </a:txBody>
                  <a:tcPr marL="45720" marR="45720" marT="27432" marB="27432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40" b="0">
                          <a:solidFill>
                            <a:srgbClr val="141820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45720" marR="45720" marT="27432" marB="27432">
                    <a:solidFill>
                      <a:srgbClr val="F0F4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40" b="0">
                          <a:solidFill>
                            <a:srgbClr val="141820"/>
                          </a:solidFill>
                          <a:latin typeface="Aptos"/>
                        </a:rPr>
                        <a:t>Failure (parachute)</a:t>
                      </a:r>
                    </a:p>
                  </a:txBody>
                  <a:tcPr marL="45720" marR="45720" marT="27432" marB="27432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40" b="0">
                          <a:solidFill>
                            <a:srgbClr val="141820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45720" marR="45720" marT="27432" marB="27432">
                    <a:solidFill>
                      <a:srgbClr val="FAFC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40" b="0">
                          <a:solidFill>
                            <a:srgbClr val="141820"/>
                          </a:solidFill>
                          <a:latin typeface="Aptos"/>
                        </a:rPr>
                        <a:t>Precluded (drone ship)</a:t>
                      </a:r>
                    </a:p>
                  </a:txBody>
                  <a:tcPr marL="45720" marR="45720" marT="27432" marB="27432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40" b="0">
                          <a:solidFill>
                            <a:srgbClr val="141820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45720" marR="45720" marT="27432" marB="27432"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63640" y="1417320"/>
          <a:ext cx="52578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</a:tblGrid>
              <a:tr h="514350">
                <a:tc>
                  <a:txBody>
                    <a:bodyPr/>
                    <a:lstStyle/>
                    <a:p>
                      <a:r>
                        <a:rPr sz="1090" b="1">
                          <a:solidFill>
                            <a:srgbClr val="FFFFFF"/>
                          </a:solidFill>
                          <a:latin typeface="Aptos"/>
                        </a:rPr>
                        <a:t>Payload query</a:t>
                      </a:r>
                    </a:p>
                  </a:txBody>
                  <a:tcPr marL="45720" marR="45720" marT="27432" marB="27432">
                    <a:solidFill>
                      <a:srgbClr val="1222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90" b="1">
                          <a:solidFill>
                            <a:srgbClr val="FFFFFF"/>
                          </a:solidFill>
                          <a:latin typeface="Aptos"/>
                        </a:rPr>
                        <a:t>Result</a:t>
                      </a:r>
                    </a:p>
                  </a:txBody>
                  <a:tcPr marL="45720" marR="45720" marT="27432" marB="27432">
                    <a:solidFill>
                      <a:srgbClr val="12223E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40" b="0">
                          <a:solidFill>
                            <a:srgbClr val="141820"/>
                          </a:solidFill>
                          <a:latin typeface="Aptos"/>
                        </a:rPr>
                        <a:t>Max payload mass</a:t>
                      </a:r>
                    </a:p>
                  </a:txBody>
                  <a:tcPr marL="45720" marR="45720" marT="27432" marB="27432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40" b="0">
                          <a:solidFill>
                            <a:srgbClr val="141820"/>
                          </a:solidFill>
                          <a:latin typeface="Aptos"/>
                        </a:rPr>
                        <a:t>15,600 kg</a:t>
                      </a:r>
                    </a:p>
                  </a:txBody>
                  <a:tcPr marL="45720" marR="45720" marT="27432" marB="27432">
                    <a:solidFill>
                      <a:srgbClr val="FAFC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40" b="0">
                          <a:solidFill>
                            <a:srgbClr val="141820"/>
                          </a:solidFill>
                          <a:latin typeface="Aptos"/>
                        </a:rPr>
                        <a:t>Boosters carrying max payload</a:t>
                      </a:r>
                    </a:p>
                  </a:txBody>
                  <a:tcPr marL="45720" marR="45720" marT="27432" marB="27432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40" b="0">
                          <a:solidFill>
                            <a:srgbClr val="141820"/>
                          </a:solidFill>
                          <a:latin typeface="Aptos"/>
                        </a:rPr>
                        <a:t>F9 B5 B1048.4, B1049.4, B1051.6, B1060.3, B1049.7</a:t>
                      </a:r>
                    </a:p>
                  </a:txBody>
                  <a:tcPr marL="45720" marR="45720" marT="27432" marB="27432">
                    <a:solidFill>
                      <a:srgbClr val="F0F4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40" b="0">
                          <a:solidFill>
                            <a:srgbClr val="141820"/>
                          </a:solidFill>
                          <a:latin typeface="Aptos"/>
                        </a:rPr>
                        <a:t>Successful drone ship payload filter</a:t>
                      </a:r>
                    </a:p>
                  </a:txBody>
                  <a:tcPr marL="45720" marR="45720" marT="27432" marB="27432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40" b="0">
                          <a:solidFill>
                            <a:srgbClr val="141820"/>
                          </a:solidFill>
                          <a:latin typeface="Aptos"/>
                        </a:rPr>
                        <a:t>Returned successful drone ship landings between 4,000 and 6,000 kg</a:t>
                      </a:r>
                    </a:p>
                  </a:txBody>
                  <a:tcPr marL="45720" marR="45720" marT="27432" marB="27432">
                    <a:solidFill>
                      <a:srgbClr val="FAFC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3886200"/>
            <a:ext cx="4800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41820"/>
                </a:solidFill>
                <a:latin typeface="Aptos"/>
              </a:defRPr>
            </a:pPr>
            <a:r>
              <a:t>Outcome counts show that early launch years included a substantial number of no-attempt or failed recovery outcomes.</a:t>
            </a:r>
          </a:p>
          <a:p>
            <a:pPr>
              <a:spcAft>
                <a:spcPts val="800"/>
              </a:spcAft>
              <a:defRPr sz="1300">
                <a:solidFill>
                  <a:srgbClr val="141820"/>
                </a:solidFill>
                <a:latin typeface="Aptos"/>
              </a:defRPr>
            </a:pPr>
            <a:r>
              <a:t>Later booster versions carried larger payload masses, which aligns with the broader technology maturity pattern.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>
                <a:solidFill>
                  <a:srgbClr val="5A6473"/>
                </a:solidFill>
                <a:latin typeface="Aptos"/>
              </a:rPr>
              <a:t>IBM Data Science Capstone | SpaceX Falcon 9 Landing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800">
                <a:solidFill>
                  <a:srgbClr val="12223E"/>
                </a:solidFill>
                <a:latin typeface="Aptos Display"/>
              </a:rPr>
              <a:t>Interactive Map Methodology Using Folium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34440" cy="54864"/>
          </a:xfrm>
          <a:prstGeom prst="rect">
            <a:avLst/>
          </a:prstGeom>
          <a:solidFill>
            <a:srgbClr val="6F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5A6473"/>
                </a:solidFill>
                <a:latin typeface="Aptos"/>
              </a:rPr>
              <a:t>Cooper Robinson | GitHub: https://github.com/cooper-710/Coursera-Capstone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41820"/>
                </a:solidFill>
                <a:latin typeface="Aptos"/>
              </a:defRPr>
            </a:pPr>
            <a:r>
              <a:t>Mapped all launch site coordinates using Folium.</a:t>
            </a:r>
          </a:p>
          <a:p>
            <a:pPr>
              <a:spcAft>
                <a:spcPts val="800"/>
              </a:spcAft>
              <a:defRPr sz="1400">
                <a:solidFill>
                  <a:srgbClr val="141820"/>
                </a:solidFill>
                <a:latin typeface="Aptos"/>
              </a:defRPr>
            </a:pPr>
            <a:r>
              <a:t>Added colored launch outcome markers to compare successful and unsuccessful outcomes by location.</a:t>
            </a:r>
          </a:p>
          <a:p>
            <a:pPr>
              <a:spcAft>
                <a:spcPts val="800"/>
              </a:spcAft>
              <a:defRPr sz="1400">
                <a:solidFill>
                  <a:srgbClr val="141820"/>
                </a:solidFill>
                <a:latin typeface="Aptos"/>
              </a:defRPr>
            </a:pPr>
            <a:r>
              <a:t>Used marker clustering to make high-density launch records easier to interpret.</a:t>
            </a:r>
          </a:p>
          <a:p>
            <a:pPr>
              <a:spcAft>
                <a:spcPts val="800"/>
              </a:spcAft>
              <a:defRPr sz="1400">
                <a:solidFill>
                  <a:srgbClr val="141820"/>
                </a:solidFill>
                <a:latin typeface="Aptos"/>
              </a:defRPr>
            </a:pPr>
            <a:r>
              <a:t>Added proximity analysis to examine geographic context near coastlines, cities, railways, and highways.</a:t>
            </a:r>
          </a:p>
        </p:txBody>
      </p:sp>
      <p:pic>
        <p:nvPicPr>
          <p:cNvPr id="8" name="Picture 7" descr="launch_site_marke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831917"/>
            <a:ext cx="5212080" cy="2645525"/>
          </a:xfrm>
          <a:prstGeom prst="rect">
            <a:avLst/>
          </a:prstGeom>
          <a:ln w="7620">
            <a:solidFill>
              <a:srgbClr val="DCE1EB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868680" y="5349240"/>
            <a:ext cx="10332720" cy="548640"/>
          </a:xfrm>
          <a:prstGeom prst="roundRect">
            <a:avLst/>
          </a:prstGeom>
          <a:solidFill>
            <a:srgbClr val="E8F1FC"/>
          </a:solidFill>
          <a:ln>
            <a:solidFill>
              <a:srgbClr val="CA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39" y="545896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223E"/>
                </a:solidFill>
                <a:latin typeface="Aptos"/>
              </a:rPr>
              <a:t>Map-based analysis makes launch geography visible, which is hard to communicate from tables alone.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>
                <a:solidFill>
                  <a:srgbClr val="5A6473"/>
                </a:solidFill>
                <a:latin typeface="Aptos"/>
              </a:rPr>
              <a:t>IBM Data Science Capstone | SpaceX Falcon 9 Landing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800">
                <a:solidFill>
                  <a:srgbClr val="12223E"/>
                </a:solidFill>
                <a:latin typeface="Aptos Display"/>
              </a:rPr>
              <a:t>Folium Results: Launch Site Geography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34440" cy="54864"/>
          </a:xfrm>
          <a:prstGeom prst="rect">
            <a:avLst/>
          </a:prstGeom>
          <a:solidFill>
            <a:srgbClr val="6F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5A6473"/>
                </a:solidFill>
                <a:latin typeface="Aptos"/>
              </a:rPr>
              <a:t>Cooper Robinson | GitHub: https://github.com/cooper-710/Coursera-Capstone</a:t>
            </a:r>
          </a:p>
        </p:txBody>
      </p:sp>
      <p:pic>
        <p:nvPicPr>
          <p:cNvPr id="7" name="Picture 6" descr="launch_site_marke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00274"/>
            <a:ext cx="5257800" cy="2668731"/>
          </a:xfrm>
          <a:prstGeom prst="rect">
            <a:avLst/>
          </a:prstGeom>
          <a:ln w="7620">
            <a:solidFill>
              <a:srgbClr val="DCE1EB"/>
            </a:solidFill>
          </a:ln>
        </p:spPr>
      </p:pic>
      <p:pic>
        <p:nvPicPr>
          <p:cNvPr id="8" name="Picture 7" descr="launch_site_marker_clust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54620"/>
            <a:ext cx="5257800" cy="2560038"/>
          </a:xfrm>
          <a:prstGeom prst="rect">
            <a:avLst/>
          </a:prstGeom>
          <a:ln w="7620">
            <a:solidFill>
              <a:srgbClr val="DCE1EB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68680" y="4709160"/>
            <a:ext cx="10287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141820"/>
                </a:solidFill>
                <a:latin typeface="Aptos"/>
              </a:defRPr>
            </a:pPr>
            <a:r>
              <a:t>Launch sites are located near coastlines, reducing risk by routing launches over water.</a:t>
            </a:r>
          </a:p>
          <a:p>
            <a:pPr>
              <a:spcAft>
                <a:spcPts val="800"/>
              </a:spcAft>
              <a:defRPr sz="1350">
                <a:solidFill>
                  <a:srgbClr val="141820"/>
                </a:solidFill>
                <a:latin typeface="Aptos"/>
              </a:defRPr>
            </a:pPr>
            <a:r>
              <a:t>Clustering makes repeated launches at the same site easier to review.</a:t>
            </a:r>
          </a:p>
          <a:p>
            <a:pPr>
              <a:spcAft>
                <a:spcPts val="800"/>
              </a:spcAft>
              <a:defRPr sz="1350">
                <a:solidFill>
                  <a:srgbClr val="141820"/>
                </a:solidFill>
                <a:latin typeface="Aptos"/>
              </a:defRPr>
            </a:pPr>
            <a:r>
              <a:t>Geospatial results support the launch-site section of the dashboard and final insights.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>
                <a:solidFill>
                  <a:srgbClr val="5A6473"/>
                </a:solidFill>
                <a:latin typeface="Aptos"/>
              </a:rPr>
              <a:t>IBM Data Science Capstone | SpaceX Falcon 9 Landing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800">
                <a:solidFill>
                  <a:srgbClr val="12223E"/>
                </a:solidFill>
                <a:latin typeface="Aptos Display"/>
              </a:rPr>
              <a:t>Folium Results: Proximity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34440" cy="54864"/>
          </a:xfrm>
          <a:prstGeom prst="rect">
            <a:avLst/>
          </a:prstGeom>
          <a:solidFill>
            <a:srgbClr val="6F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5A6473"/>
                </a:solidFill>
                <a:latin typeface="Aptos"/>
              </a:rPr>
              <a:t>Cooper Robinson | GitHub: https://github.com/cooper-710/Coursera-Capstone</a:t>
            </a:r>
          </a:p>
        </p:txBody>
      </p:sp>
      <p:pic>
        <p:nvPicPr>
          <p:cNvPr id="7" name="Picture 6" descr="Zoo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17217"/>
            <a:ext cx="5257800" cy="3166364"/>
          </a:xfrm>
          <a:prstGeom prst="rect">
            <a:avLst/>
          </a:prstGeom>
          <a:ln w="7620">
            <a:solidFill>
              <a:srgbClr val="DCE1EB"/>
            </a:solidFill>
          </a:ln>
        </p:spPr>
      </p:pic>
      <p:pic>
        <p:nvPicPr>
          <p:cNvPr id="8" name="Picture 7" descr="US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30362"/>
            <a:ext cx="5257800" cy="3140075"/>
          </a:xfrm>
          <a:prstGeom prst="rect">
            <a:avLst/>
          </a:prstGeom>
          <a:ln w="7620">
            <a:solidFill>
              <a:srgbClr val="DCE1EB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868680" y="5349240"/>
            <a:ext cx="10287000" cy="594360"/>
          </a:xfrm>
          <a:prstGeom prst="roundRect">
            <a:avLst/>
          </a:prstGeom>
          <a:solidFill>
            <a:srgbClr val="E8F1FC"/>
          </a:solidFill>
          <a:ln>
            <a:solidFill>
              <a:srgbClr val="CA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39" y="5458968"/>
            <a:ext cx="100126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223E"/>
                </a:solidFill>
                <a:latin typeface="Aptos"/>
              </a:rPr>
              <a:t>The proximity maps show why launch sites are operationally positioned near open water while still remaining close enough to transportation and support infrastructure.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>
                <a:solidFill>
                  <a:srgbClr val="5A6473"/>
                </a:solidFill>
                <a:latin typeface="Aptos"/>
              </a:rPr>
              <a:t>IBM Data Science Capstone | SpaceX Falcon 9 Landing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800">
                <a:solidFill>
                  <a:srgbClr val="12223E"/>
                </a:solidFill>
                <a:latin typeface="Aptos Display"/>
              </a:rPr>
              <a:t>Plotly Dash Dashboard 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34440" cy="54864"/>
          </a:xfrm>
          <a:prstGeom prst="rect">
            <a:avLst/>
          </a:prstGeom>
          <a:solidFill>
            <a:srgbClr val="6F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5A6473"/>
                </a:solidFill>
                <a:latin typeface="Aptos"/>
              </a:rPr>
              <a:t>Cooper Robinson | GitHub: https://github.com/cooper-710/Coursera-Capstone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52578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41820"/>
                </a:solidFill>
                <a:latin typeface="Aptos"/>
              </a:defRPr>
            </a:pPr>
            <a:r>
              <a:t>Built a local Dash app using pandas, Plotly, and Dash callbacks.</a:t>
            </a:r>
          </a:p>
          <a:p>
            <a:pPr>
              <a:spcAft>
                <a:spcPts val="800"/>
              </a:spcAft>
              <a:defRPr sz="1400">
                <a:solidFill>
                  <a:srgbClr val="141820"/>
                </a:solidFill>
                <a:latin typeface="Aptos"/>
              </a:defRPr>
            </a:pPr>
            <a:r>
              <a:t>Added a launch site dropdown to switch between all sites and individual launch sites.</a:t>
            </a:r>
          </a:p>
          <a:p>
            <a:pPr>
              <a:spcAft>
                <a:spcPts val="800"/>
              </a:spcAft>
              <a:defRPr sz="1400">
                <a:solidFill>
                  <a:srgbClr val="141820"/>
                </a:solidFill>
                <a:latin typeface="Aptos"/>
              </a:defRPr>
            </a:pPr>
            <a:r>
              <a:t>Added a payload range slider to filter launches by payload mass.</a:t>
            </a:r>
          </a:p>
          <a:p>
            <a:pPr>
              <a:spcAft>
                <a:spcPts val="800"/>
              </a:spcAft>
              <a:defRPr sz="1400">
                <a:solidFill>
                  <a:srgbClr val="141820"/>
                </a:solidFill>
                <a:latin typeface="Aptos"/>
              </a:defRPr>
            </a:pPr>
            <a:r>
              <a:t>Updated pie and scatter charts interactively based on dropdown and slider inputs.</a:t>
            </a:r>
          </a:p>
        </p:txBody>
      </p:sp>
      <p:pic>
        <p:nvPicPr>
          <p:cNvPr id="8" name="Picture 7" descr="Fu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54721"/>
            <a:ext cx="5349240" cy="3182797"/>
          </a:xfrm>
          <a:prstGeom prst="rect">
            <a:avLst/>
          </a:prstGeom>
          <a:ln w="7620">
            <a:solidFill>
              <a:srgbClr val="DCE1EB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868680" y="5440680"/>
            <a:ext cx="10287000" cy="502920"/>
          </a:xfrm>
          <a:prstGeom prst="roundRect">
            <a:avLst/>
          </a:prstGeom>
          <a:solidFill>
            <a:srgbClr val="E8F1FC"/>
          </a:solidFill>
          <a:ln>
            <a:solidFill>
              <a:srgbClr val="CA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39" y="5550408"/>
            <a:ext cx="10012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223E"/>
                </a:solidFill>
                <a:latin typeface="Aptos"/>
              </a:rPr>
              <a:t>The dashboard turns static EDA into an interactive tool for exploring success rate by site and payload range.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>
                <a:solidFill>
                  <a:srgbClr val="5A6473"/>
                </a:solidFill>
                <a:latin typeface="Aptos"/>
              </a:rPr>
              <a:t>IBM Data Science Capstone | SpaceX Falcon 9 Landing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800">
                <a:solidFill>
                  <a:srgbClr val="12223E"/>
                </a:solidFill>
                <a:latin typeface="Aptos Display"/>
              </a:rPr>
              <a:t>Dash Results: Successful Launches by Site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34440" cy="54864"/>
          </a:xfrm>
          <a:prstGeom prst="rect">
            <a:avLst/>
          </a:prstGeom>
          <a:solidFill>
            <a:srgbClr val="6F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5A6473"/>
                </a:solidFill>
                <a:latin typeface="Aptos"/>
              </a:rPr>
              <a:t>Cooper Robinson | GitHub: https://github.com/cooper-710/Coursera-Capstone</a:t>
            </a:r>
          </a:p>
        </p:txBody>
      </p:sp>
      <p:pic>
        <p:nvPicPr>
          <p:cNvPr id="7" name="Picture 6" descr="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043" y="1417320"/>
            <a:ext cx="10386873" cy="2377440"/>
          </a:xfrm>
          <a:prstGeom prst="rect">
            <a:avLst/>
          </a:prstGeom>
          <a:ln w="7620">
            <a:solidFill>
              <a:srgbClr val="DCE1EB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868680" y="4251960"/>
            <a:ext cx="10241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41820"/>
                </a:solidFill>
                <a:latin typeface="Aptos"/>
              </a:defRPr>
            </a:pPr>
            <a:r>
              <a:t>The all-sites pie chart compares successful launches across major launch sites.</a:t>
            </a:r>
          </a:p>
          <a:p>
            <a:pPr>
              <a:spcAft>
                <a:spcPts val="800"/>
              </a:spcAft>
              <a:defRPr sz="1400">
                <a:solidFill>
                  <a:srgbClr val="141820"/>
                </a:solidFill>
                <a:latin typeface="Aptos"/>
              </a:defRPr>
            </a:pPr>
            <a:r>
              <a:t>KSC LC-39A accounts for the largest share of successful launches in the dashboard output.</a:t>
            </a:r>
          </a:p>
          <a:p>
            <a:pPr>
              <a:spcAft>
                <a:spcPts val="800"/>
              </a:spcAft>
              <a:defRPr sz="1400">
                <a:solidFill>
                  <a:srgbClr val="141820"/>
                </a:solidFill>
                <a:latin typeface="Aptos"/>
              </a:defRPr>
            </a:pPr>
            <a:r>
              <a:t>This output directly supports the project requirement for Plotly Dash dashboard results.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623560"/>
            <a:ext cx="10287000" cy="502920"/>
          </a:xfrm>
          <a:prstGeom prst="roundRect">
            <a:avLst/>
          </a:prstGeom>
          <a:solidFill>
            <a:srgbClr val="E8F1FC"/>
          </a:solidFill>
          <a:ln>
            <a:solidFill>
              <a:srgbClr val="CA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39" y="5733288"/>
            <a:ext cx="10012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223E"/>
                </a:solidFill>
                <a:latin typeface="Aptos"/>
              </a:rPr>
              <a:t>Dashboard answer: KSC LC-39A appears as the strongest successful-launch contributor in the filtered dashboard view.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>
                <a:solidFill>
                  <a:srgbClr val="5A6473"/>
                </a:solidFill>
                <a:latin typeface="Aptos"/>
              </a:rPr>
              <a:t>IBM Data Science Capstone | SpaceX Falcon 9 Landing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800">
                <a:solidFill>
                  <a:srgbClr val="12223E"/>
                </a:solidFill>
                <a:latin typeface="Aptos Display"/>
              </a:rPr>
              <a:t>Dash Results: Site Selection and Payload Scatter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34440" cy="54864"/>
          </a:xfrm>
          <a:prstGeom prst="rect">
            <a:avLst/>
          </a:prstGeom>
          <a:solidFill>
            <a:srgbClr val="6F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5A6473"/>
                </a:solidFill>
                <a:latin typeface="Aptos"/>
              </a:rPr>
              <a:t>Cooper Robinson | GitHub: https://github.com/cooper-710/Coursera-Capstone</a:t>
            </a:r>
          </a:p>
        </p:txBody>
      </p:sp>
      <p:pic>
        <p:nvPicPr>
          <p:cNvPr id="7" name="Picture 6" descr="KS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808" y="1417320"/>
            <a:ext cx="7989902" cy="1828800"/>
          </a:xfrm>
          <a:prstGeom prst="rect">
            <a:avLst/>
          </a:prstGeom>
          <a:ln w="7620">
            <a:solidFill>
              <a:srgbClr val="DCE1EB"/>
            </a:solidFill>
          </a:ln>
        </p:spPr>
      </p:pic>
      <p:pic>
        <p:nvPicPr>
          <p:cNvPr id="8" name="Picture 7" descr="PlotA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8877" y="3566160"/>
            <a:ext cx="7323765" cy="1737360"/>
          </a:xfrm>
          <a:prstGeom prst="rect">
            <a:avLst/>
          </a:prstGeom>
          <a:ln w="7620">
            <a:solidFill>
              <a:srgbClr val="DCE1EB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68680" y="55321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41820"/>
                </a:solidFill>
                <a:latin typeface="Aptos"/>
              </a:defRPr>
            </a:pPr>
            <a:r>
              <a:t>The selected-site pie chart compares success versus failure for one launch site.</a:t>
            </a:r>
          </a:p>
          <a:p>
            <a:pPr>
              <a:spcAft>
                <a:spcPts val="800"/>
              </a:spcAft>
              <a:defRPr sz="1200">
                <a:solidFill>
                  <a:srgbClr val="141820"/>
                </a:solidFill>
                <a:latin typeface="Aptos"/>
              </a:defRPr>
            </a:pPr>
            <a:r>
              <a:t>The payload scatter shows launch outcome by payload mass and booster version category.</a:t>
            </a:r>
          </a:p>
          <a:p>
            <a:pPr>
              <a:spcAft>
                <a:spcPts val="800"/>
              </a:spcAft>
              <a:defRPr sz="1200">
                <a:solidFill>
                  <a:srgbClr val="141820"/>
                </a:solidFill>
                <a:latin typeface="Aptos"/>
              </a:defRPr>
            </a:pPr>
            <a:r>
              <a:t>The scatter plot shows successful landings across a wide payload range, but failures remain present, especially in earlier booster categories.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>
                <a:solidFill>
                  <a:srgbClr val="5A6473"/>
                </a:solidFill>
                <a:latin typeface="Aptos"/>
              </a:rPr>
              <a:t>IBM Data Science Capstone | SpaceX Falcon 9 Landing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800">
                <a:solidFill>
                  <a:srgbClr val="12223E"/>
                </a:solidFill>
                <a:latin typeface="Aptos Display"/>
              </a:rPr>
              <a:t>Predictive Analysis 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34440" cy="54864"/>
          </a:xfrm>
          <a:prstGeom prst="rect">
            <a:avLst/>
          </a:prstGeom>
          <a:solidFill>
            <a:srgbClr val="6F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5A6473"/>
                </a:solidFill>
                <a:latin typeface="Aptos"/>
              </a:rPr>
              <a:t>Cooper Robinson | GitHub: https://github.com/cooper-710/Coursera-Capstone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5669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30">
                <a:solidFill>
                  <a:srgbClr val="141820"/>
                </a:solidFill>
                <a:latin typeface="Aptos"/>
              </a:defRPr>
            </a:pPr>
            <a:r>
              <a:t>Created feature matrix X and target vector Y from the cleaned launch dataset.</a:t>
            </a:r>
          </a:p>
          <a:p>
            <a:pPr>
              <a:spcAft>
                <a:spcPts val="800"/>
              </a:spcAft>
              <a:defRPr sz="1430">
                <a:solidFill>
                  <a:srgbClr val="141820"/>
                </a:solidFill>
                <a:latin typeface="Aptos"/>
              </a:defRPr>
            </a:pPr>
            <a:r>
              <a:t>Standardized numerical and encoded categorical features before model training.</a:t>
            </a:r>
          </a:p>
          <a:p>
            <a:pPr>
              <a:spcAft>
                <a:spcPts val="800"/>
              </a:spcAft>
              <a:defRPr sz="1430">
                <a:solidFill>
                  <a:srgbClr val="141820"/>
                </a:solidFill>
                <a:latin typeface="Aptos"/>
              </a:defRPr>
            </a:pPr>
            <a:r>
              <a:t>Split data into training and test sets.</a:t>
            </a:r>
          </a:p>
          <a:p>
            <a:pPr>
              <a:spcAft>
                <a:spcPts val="800"/>
              </a:spcAft>
              <a:defRPr sz="1430">
                <a:solidFill>
                  <a:srgbClr val="141820"/>
                </a:solidFill>
                <a:latin typeface="Aptos"/>
              </a:defRPr>
            </a:pPr>
            <a:r>
              <a:t>Used GridSearchCV to tune hyperparameters for Logistic Regression, SVM, Decision Tree, and KNN.</a:t>
            </a:r>
          </a:p>
          <a:p>
            <a:pPr>
              <a:spcAft>
                <a:spcPts val="800"/>
              </a:spcAft>
              <a:defRPr sz="1430">
                <a:solidFill>
                  <a:srgbClr val="141820"/>
                </a:solidFill>
                <a:latin typeface="Aptos"/>
              </a:defRPr>
            </a:pPr>
            <a:r>
              <a:t>Evaluated each model using test accuracy and confusion matrix output.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629400" y="1600200"/>
          <a:ext cx="4572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438912">
                <a:tc>
                  <a:txBody>
                    <a:bodyPr/>
                    <a:lstStyle/>
                    <a:p>
                      <a:r>
                        <a:rPr sz="1130" b="1">
                          <a:solidFill>
                            <a:srgbClr val="FFFFFF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 marL="45720" marR="45720" marT="27432" marB="27432">
                    <a:solidFill>
                      <a:srgbClr val="1222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30" b="1">
                          <a:solidFill>
                            <a:srgbClr val="FFFFFF"/>
                          </a:solidFill>
                          <a:latin typeface="Aptos"/>
                        </a:rPr>
                        <a:t>Role in comparison</a:t>
                      </a:r>
                    </a:p>
                  </a:txBody>
                  <a:tcPr marL="45720" marR="45720" marT="27432" marB="27432">
                    <a:solidFill>
                      <a:srgbClr val="12223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80" b="0">
                          <a:solidFill>
                            <a:srgbClr val="141820"/>
                          </a:solidFill>
                          <a:latin typeface="Aptos"/>
                        </a:rPr>
                        <a:t>Logistic Regression</a:t>
                      </a:r>
                    </a:p>
                  </a:txBody>
                  <a:tcPr marL="45720" marR="45720" marT="27432" marB="27432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0" b="0">
                          <a:solidFill>
                            <a:srgbClr val="141820"/>
                          </a:solidFill>
                          <a:latin typeface="Aptos"/>
                        </a:rPr>
                        <a:t>Simple linear baseline</a:t>
                      </a:r>
                    </a:p>
                  </a:txBody>
                  <a:tcPr marL="45720" marR="45720" marT="27432" marB="27432">
                    <a:solidFill>
                      <a:srgbClr val="FAFC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80" b="0">
                          <a:solidFill>
                            <a:srgbClr val="141820"/>
                          </a:solidFill>
                          <a:latin typeface="Aptos"/>
                        </a:rPr>
                        <a:t>SVM</a:t>
                      </a:r>
                    </a:p>
                  </a:txBody>
                  <a:tcPr marL="45720" marR="45720" marT="27432" marB="27432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0" b="0">
                          <a:solidFill>
                            <a:srgbClr val="141820"/>
                          </a:solidFill>
                          <a:latin typeface="Aptos"/>
                        </a:rPr>
                        <a:t>Margin-based classifier</a:t>
                      </a:r>
                    </a:p>
                  </a:txBody>
                  <a:tcPr marL="45720" marR="45720" marT="27432" marB="27432">
                    <a:solidFill>
                      <a:srgbClr val="F0F4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80" b="0">
                          <a:solidFill>
                            <a:srgbClr val="141820"/>
                          </a:solidFill>
                          <a:latin typeface="Aptos"/>
                        </a:rPr>
                        <a:t>Decision Tree</a:t>
                      </a:r>
                    </a:p>
                  </a:txBody>
                  <a:tcPr marL="45720" marR="45720" marT="27432" marB="27432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0" b="0">
                          <a:solidFill>
                            <a:srgbClr val="141820"/>
                          </a:solidFill>
                          <a:latin typeface="Aptos"/>
                        </a:rPr>
                        <a:t>Interpretable nonlinear model</a:t>
                      </a:r>
                    </a:p>
                  </a:txBody>
                  <a:tcPr marL="45720" marR="45720" marT="27432" marB="27432">
                    <a:solidFill>
                      <a:srgbClr val="FAFC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80" b="0">
                          <a:solidFill>
                            <a:srgbClr val="141820"/>
                          </a:solidFill>
                          <a:latin typeface="Aptos"/>
                        </a:rPr>
                        <a:t>KNN</a:t>
                      </a:r>
                    </a:p>
                  </a:txBody>
                  <a:tcPr marL="45720" marR="45720" marT="27432" marB="27432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0" b="0">
                          <a:solidFill>
                            <a:srgbClr val="141820"/>
                          </a:solidFill>
                          <a:latin typeface="Aptos"/>
                        </a:rPr>
                        <a:t>Instance-based classifier</a:t>
                      </a:r>
                    </a:p>
                  </a:txBody>
                  <a:tcPr marL="45720" marR="45720" marT="27432" marB="27432"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629400" y="4251960"/>
            <a:ext cx="4572000" cy="822960"/>
          </a:xfrm>
          <a:prstGeom prst="roundRect">
            <a:avLst/>
          </a:prstGeom>
          <a:solidFill>
            <a:srgbClr val="E8F1FC"/>
          </a:solidFill>
          <a:ln>
            <a:solidFill>
              <a:srgbClr val="CA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4361688"/>
            <a:ext cx="4297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223E"/>
                </a:solidFill>
                <a:latin typeface="Aptos"/>
              </a:rPr>
              <a:t>The modeling section focused on comparing several classification approaches rather than relying on one model by default.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>
                <a:solidFill>
                  <a:srgbClr val="5A6473"/>
                </a:solidFill>
                <a:latin typeface="Aptos"/>
              </a:rPr>
              <a:t>IBM Data Science Capstone | SpaceX Falcon 9 Landing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800">
                <a:solidFill>
                  <a:srgbClr val="12223E"/>
                </a:solidFill>
                <a:latin typeface="Aptos Display"/>
              </a:rPr>
              <a:t>Predictive Analysis Results: Model Accuracy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34440" cy="54864"/>
          </a:xfrm>
          <a:prstGeom prst="rect">
            <a:avLst/>
          </a:prstGeom>
          <a:solidFill>
            <a:srgbClr val="6F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5A6473"/>
                </a:solidFill>
                <a:latin typeface="Aptos"/>
              </a:rPr>
              <a:t>Cooper Robinson | GitHub: https://github.com/cooper-710/Coursera-Capstone</a:t>
            </a:r>
          </a:p>
        </p:txBody>
      </p:sp>
      <p:pic>
        <p:nvPicPr>
          <p:cNvPr id="7" name="Picture 6" descr="Matrix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3255" y="1417320"/>
            <a:ext cx="5595008" cy="3474720"/>
          </a:xfrm>
          <a:prstGeom prst="rect">
            <a:avLst/>
          </a:prstGeom>
          <a:ln w="7620">
            <a:solidFill>
              <a:srgbClr val="DCE1EB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868680" y="5166360"/>
            <a:ext cx="10287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41820"/>
                </a:solidFill>
                <a:latin typeface="Aptos"/>
              </a:defRPr>
            </a:pPr>
            <a:r>
              <a:t>All four models reached about 83.3% test accuracy.</a:t>
            </a:r>
          </a:p>
          <a:p>
            <a:pPr>
              <a:spcAft>
                <a:spcPts val="800"/>
              </a:spcAft>
              <a:defRPr sz="1300">
                <a:solidFill>
                  <a:srgbClr val="141820"/>
                </a:solidFill>
                <a:latin typeface="Aptos"/>
              </a:defRPr>
            </a:pPr>
            <a:r>
              <a:t>Because accuracy was tied, the simplest model, Logistic Regression, is a practical final model choice.</a:t>
            </a:r>
          </a:p>
          <a:p>
            <a:pPr>
              <a:spcAft>
                <a:spcPts val="800"/>
              </a:spcAft>
              <a:defRPr sz="1300">
                <a:solidFill>
                  <a:srgbClr val="141820"/>
                </a:solidFill>
                <a:latin typeface="Aptos"/>
              </a:defRPr>
            </a:pPr>
            <a:r>
              <a:t>The similar performance suggests that the dataset is small enough that model choice is less important than feature quality and class balance.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>
                <a:solidFill>
                  <a:srgbClr val="5A6473"/>
                </a:solidFill>
                <a:latin typeface="Aptos"/>
              </a:rPr>
              <a:t>IBM Data Science Capstone | SpaceX Falcon 9 Landing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800">
                <a:solidFill>
                  <a:srgbClr val="12223E"/>
                </a:solidFill>
                <a:latin typeface="Aptos Display"/>
              </a:rPr>
              <a:t>Predictive Analysis Results: Confusion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34440" cy="54864"/>
          </a:xfrm>
          <a:prstGeom prst="rect">
            <a:avLst/>
          </a:prstGeom>
          <a:solidFill>
            <a:srgbClr val="6F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5A6473"/>
                </a:solidFill>
                <a:latin typeface="Aptos"/>
              </a:rPr>
              <a:t>Cooper Robinson | GitHub: https://github.com/cooper-710/Coursera-Capstone</a:t>
            </a:r>
          </a:p>
        </p:txBody>
      </p:sp>
      <p:pic>
        <p:nvPicPr>
          <p:cNvPr id="7" name="Picture 6" descr="Matri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211" y="1325880"/>
            <a:ext cx="4899576" cy="4206240"/>
          </a:xfrm>
          <a:prstGeom prst="rect">
            <a:avLst/>
          </a:prstGeom>
          <a:ln w="7620">
            <a:solidFill>
              <a:srgbClr val="DCE1EB"/>
            </a:solidFill>
          </a:ln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463040"/>
          <a:ext cx="4572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418011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Metric</a:t>
                      </a:r>
                    </a:p>
                  </a:txBody>
                  <a:tcPr marL="45720" marR="45720" marT="27432" marB="27432">
                    <a:solidFill>
                      <a:srgbClr val="1222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Value</a:t>
                      </a:r>
                    </a:p>
                  </a:txBody>
                  <a:tcPr marL="45720" marR="45720" marT="27432" marB="27432">
                    <a:solidFill>
                      <a:srgbClr val="12223E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820"/>
                          </a:solidFill>
                          <a:latin typeface="Aptos"/>
                        </a:rPr>
                        <a:t>Correct predictions</a:t>
                      </a:r>
                    </a:p>
                  </a:txBody>
                  <a:tcPr marL="45720" marR="45720" marT="27432" marB="27432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820"/>
                          </a:solidFill>
                          <a:latin typeface="Aptos"/>
                        </a:rPr>
                        <a:t>15 / 18</a:t>
                      </a:r>
                    </a:p>
                  </a:txBody>
                  <a:tcPr marL="45720" marR="45720" marT="27432" marB="27432">
                    <a:solidFill>
                      <a:srgbClr val="FAFC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820"/>
                          </a:solidFill>
                          <a:latin typeface="Aptos"/>
                        </a:rPr>
                        <a:t>Test accuracy</a:t>
                      </a:r>
                    </a:p>
                  </a:txBody>
                  <a:tcPr marL="45720" marR="45720" marT="27432" marB="27432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820"/>
                          </a:solidFill>
                          <a:latin typeface="Aptos"/>
                        </a:rPr>
                        <a:t>83.3%</a:t>
                      </a:r>
                    </a:p>
                  </a:txBody>
                  <a:tcPr marL="45720" marR="45720" marT="27432" marB="27432">
                    <a:solidFill>
                      <a:srgbClr val="F0F4FA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820"/>
                          </a:solidFill>
                          <a:latin typeface="Aptos"/>
                        </a:rPr>
                        <a:t>Correct landed predictions</a:t>
                      </a:r>
                    </a:p>
                  </a:txBody>
                  <a:tcPr marL="45720" marR="45720" marT="27432" marB="27432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820"/>
                          </a:solidFill>
                          <a:latin typeface="Aptos"/>
                        </a:rPr>
                        <a:t>12</a:t>
                      </a:r>
                    </a:p>
                  </a:txBody>
                  <a:tcPr marL="45720" marR="45720" marT="27432" marB="27432">
                    <a:solidFill>
                      <a:srgbClr val="FAFC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820"/>
                          </a:solidFill>
                          <a:latin typeface="Aptos"/>
                        </a:rPr>
                        <a:t>Correct did-not-land predictions</a:t>
                      </a:r>
                    </a:p>
                  </a:txBody>
                  <a:tcPr marL="45720" marR="45720" marT="27432" marB="27432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820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45720" marR="45720" marT="27432" marB="27432">
                    <a:solidFill>
                      <a:srgbClr val="F0F4FA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820"/>
                          </a:solidFill>
                          <a:latin typeface="Aptos"/>
                        </a:rPr>
                        <a:t>False positives</a:t>
                      </a:r>
                    </a:p>
                  </a:txBody>
                  <a:tcPr marL="45720" marR="45720" marT="27432" marB="27432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820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45720" marR="45720" marT="27432" marB="27432">
                    <a:solidFill>
                      <a:srgbClr val="FAFC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820"/>
                          </a:solidFill>
                          <a:latin typeface="Aptos"/>
                        </a:rPr>
                        <a:t>False negatives</a:t>
                      </a:r>
                    </a:p>
                  </a:txBody>
                  <a:tcPr marL="45720" marR="45720" marT="27432" marB="27432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820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45720" marR="45720" marT="27432" marB="27432"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0" y="4800600"/>
            <a:ext cx="4572000" cy="822960"/>
          </a:xfrm>
          <a:prstGeom prst="roundRect">
            <a:avLst/>
          </a:prstGeom>
          <a:solidFill>
            <a:srgbClr val="E8F1FC"/>
          </a:solidFill>
          <a:ln>
            <a:solidFill>
              <a:srgbClr val="CA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4910328"/>
            <a:ext cx="4297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223E"/>
                </a:solidFill>
                <a:latin typeface="Aptos"/>
              </a:rPr>
              <a:t>Interpretation: the model predicts successful landings well, but it is weaker at catching failed landing cases.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>
                <a:solidFill>
                  <a:srgbClr val="5A6473"/>
                </a:solidFill>
                <a:latin typeface="Aptos"/>
              </a:rPr>
              <a:t>IBM Data Science Capstone | SpaceX Falcon 9 Landing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800">
                <a:solidFill>
                  <a:srgbClr val="12223E"/>
                </a:solidFill>
                <a:latin typeface="Aptos Display"/>
              </a:rPr>
              <a:t>Key 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34440" cy="54864"/>
          </a:xfrm>
          <a:prstGeom prst="rect">
            <a:avLst/>
          </a:prstGeom>
          <a:solidFill>
            <a:srgbClr val="6F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5A6473"/>
                </a:solidFill>
                <a:latin typeface="Aptos"/>
              </a:rPr>
              <a:t>Cooper Robinson | GitHub: https://github.com/cooper-710/Coursera-Capstone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303520" cy="1097280"/>
          </a:xfrm>
          <a:prstGeom prst="roundRect">
            <a:avLst/>
          </a:prstGeom>
          <a:solidFill>
            <a:srgbClr val="F5F7FA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0392" y="1581912"/>
            <a:ext cx="420624" cy="420624"/>
          </a:xfrm>
          <a:prstGeom prst="ellipse">
            <a:avLst/>
          </a:prstGeom>
          <a:solidFill>
            <a:srgbClr val="2E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645920"/>
            <a:ext cx="4206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9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563624"/>
            <a:ext cx="4480559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12223E"/>
                </a:solidFill>
                <a:latin typeface="Aptos"/>
              </a:rPr>
              <a:t>Launch maturity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20240"/>
            <a:ext cx="4434840" cy="5029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5A6473"/>
                </a:solidFill>
                <a:latin typeface="Aptos"/>
              </a:rPr>
              <a:t>Yearly trend and flight number analysis show success improved over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5303520" cy="1097280"/>
          </a:xfrm>
          <a:prstGeom prst="roundRect">
            <a:avLst/>
          </a:prstGeom>
          <a:solidFill>
            <a:srgbClr val="F5F7FA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82512" y="1581912"/>
            <a:ext cx="420624" cy="420624"/>
          </a:xfrm>
          <a:prstGeom prst="ellipse">
            <a:avLst/>
          </a:prstGeom>
          <a:solidFill>
            <a:srgbClr val="6F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645920"/>
            <a:ext cx="4206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9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1563624"/>
            <a:ext cx="4480559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12223E"/>
                </a:solidFill>
                <a:latin typeface="Aptos"/>
              </a:rPr>
              <a:t>Launch context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1920240"/>
            <a:ext cx="4434840" cy="5029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5A6473"/>
                </a:solidFill>
                <a:latin typeface="Aptos"/>
              </a:rPr>
              <a:t>Site, orbit type, and payload mass produce different success patterns.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80360"/>
            <a:ext cx="5303520" cy="1097280"/>
          </a:xfrm>
          <a:prstGeom prst="roundRect">
            <a:avLst/>
          </a:prstGeom>
          <a:solidFill>
            <a:srgbClr val="F5F7FA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0392" y="3044952"/>
            <a:ext cx="420624" cy="420624"/>
          </a:xfrm>
          <a:prstGeom prst="ellipse">
            <a:avLst/>
          </a:prstGeom>
          <a:solidFill>
            <a:srgbClr val="239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3108960"/>
            <a:ext cx="4206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9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026664"/>
            <a:ext cx="4480559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12223E"/>
                </a:solidFill>
                <a:latin typeface="Aptos"/>
              </a:rPr>
              <a:t>Interactive tools improve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383280"/>
            <a:ext cx="4434840" cy="5029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5A6473"/>
                </a:solidFill>
                <a:latin typeface="Aptos"/>
              </a:rPr>
              <a:t>Folium and Dash make site geography and payload filters easier to explore.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880360"/>
            <a:ext cx="5303520" cy="1097280"/>
          </a:xfrm>
          <a:prstGeom prst="roundRect">
            <a:avLst/>
          </a:prstGeom>
          <a:solidFill>
            <a:srgbClr val="F5F7FA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82512" y="3044952"/>
            <a:ext cx="420624" cy="420624"/>
          </a:xfrm>
          <a:prstGeom prst="ellipse">
            <a:avLst/>
          </a:prstGeom>
          <a:solidFill>
            <a:srgbClr val="E67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3108960"/>
            <a:ext cx="4206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9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3026664"/>
            <a:ext cx="4480559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>
                <a:solidFill>
                  <a:srgbClr val="12223E"/>
                </a:solidFill>
                <a:latin typeface="Aptos"/>
              </a:rPr>
              <a:t>Prediction is useful but imperfect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3383280"/>
            <a:ext cx="4434840" cy="5029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5A6473"/>
                </a:solidFill>
                <a:latin typeface="Aptos"/>
              </a:rPr>
              <a:t>Models reached 83.3% accuracy, but failures are harder to classify.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4892040"/>
            <a:ext cx="10378440" cy="731520"/>
          </a:xfrm>
          <a:prstGeom prst="roundRect">
            <a:avLst/>
          </a:prstGeom>
          <a:solidFill>
            <a:srgbClr val="E8F1FC"/>
          </a:solidFill>
          <a:ln>
            <a:solidFill>
              <a:srgbClr val="CA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39" y="5001768"/>
            <a:ext cx="1010411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223E"/>
                </a:solidFill>
                <a:latin typeface="Aptos"/>
              </a:rPr>
              <a:t>Most important insight: the landing problem is not random. Operational experience and launch configuration provide meaningful predictive signal.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>
                <a:solidFill>
                  <a:srgbClr val="5A6473"/>
                </a:solidFill>
                <a:latin typeface="Aptos"/>
              </a:rPr>
              <a:t>IBM Data Science Capstone | SpaceX Falcon 9 Landing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800">
                <a:solidFill>
                  <a:srgbClr val="12223E"/>
                </a:solidFill>
                <a:latin typeface="Aptos Display"/>
              </a:rPr>
              <a:t>Innovative Insights Beyond the Template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34440" cy="54864"/>
          </a:xfrm>
          <a:prstGeom prst="rect">
            <a:avLst/>
          </a:prstGeom>
          <a:solidFill>
            <a:srgbClr val="6F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5A6473"/>
                </a:solidFill>
                <a:latin typeface="Aptos"/>
              </a:rPr>
              <a:t>Cooper Robinson | GitHub: https://github.com/cooper-710/Coursera-Capstone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881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41820"/>
                </a:solidFill>
                <a:latin typeface="Aptos"/>
              </a:defRPr>
            </a:pPr>
            <a:r>
              <a:t>Failure risk is asymmetric: the final classifier made no false negative landing predictions, but it did label some failed landings as successful. That matters because false confidence is more costly than conservative prediction.</a:t>
            </a:r>
          </a:p>
          <a:p>
            <a:pPr>
              <a:spcAft>
                <a:spcPts val="800"/>
              </a:spcAft>
              <a:defRPr sz="1400">
                <a:solidFill>
                  <a:srgbClr val="141820"/>
                </a:solidFill>
                <a:latin typeface="Aptos"/>
              </a:defRPr>
            </a:pPr>
            <a:r>
              <a:t>Payload mass should not be interpreted in isolation. It needs to be read with booster version and launch site because different mission profiles create different risk patterns.</a:t>
            </a:r>
          </a:p>
          <a:p>
            <a:pPr>
              <a:spcAft>
                <a:spcPts val="800"/>
              </a:spcAft>
              <a:defRPr sz="1400">
                <a:solidFill>
                  <a:srgbClr val="141820"/>
                </a:solidFill>
                <a:latin typeface="Aptos"/>
              </a:defRPr>
            </a:pPr>
            <a:r>
              <a:t>Launch site comparisons become clearer when static charts are paired with geographic context. Folium adds physical intuition that a regular chart cannot show.</a:t>
            </a:r>
          </a:p>
          <a:p>
            <a:pPr>
              <a:spcAft>
                <a:spcPts val="800"/>
              </a:spcAft>
              <a:defRPr sz="1400">
                <a:solidFill>
                  <a:srgbClr val="141820"/>
                </a:solidFill>
                <a:latin typeface="Aptos"/>
              </a:defRPr>
            </a:pPr>
            <a:r>
              <a:t>A future version could turn the Dash app into a mission planning tool with probability output, confidence flags, and model explanations for each prediction.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983480"/>
            <a:ext cx="10378440" cy="731520"/>
          </a:xfrm>
          <a:prstGeom prst="roundRect">
            <a:avLst/>
          </a:prstGeom>
          <a:solidFill>
            <a:srgbClr val="E8F1FC"/>
          </a:solidFill>
          <a:ln>
            <a:solidFill>
              <a:srgbClr val="CA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39" y="5093208"/>
            <a:ext cx="1010411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223E"/>
                </a:solidFill>
                <a:latin typeface="Aptos"/>
              </a:rPr>
              <a:t>Creative enhancement used in this report: the project outputs were organized as a complete analysis package with GitHub, notebooks, map screenshots, dashboard screenshots, and model result visuals.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>
                <a:solidFill>
                  <a:srgbClr val="5A6473"/>
                </a:solidFill>
                <a:latin typeface="Aptos"/>
              </a:rPr>
              <a:t>IBM Data Science Capstone | SpaceX Falcon 9 Landing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800">
                <a:solidFill>
                  <a:srgbClr val="12223E"/>
                </a:solidFill>
                <a:latin typeface="Aptos Display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34440" cy="54864"/>
          </a:xfrm>
          <a:prstGeom prst="rect">
            <a:avLst/>
          </a:prstGeom>
          <a:solidFill>
            <a:srgbClr val="6F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5A6473"/>
                </a:solidFill>
                <a:latin typeface="Aptos"/>
              </a:rPr>
              <a:t>Cooper Robinson | GitHub: https://github.com/cooper-710/Coursera-Capstone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5156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2223E"/>
                </a:solidFill>
                <a:latin typeface="Aptos"/>
              </a:rPr>
              <a:t>The SpaceX Falcon 9 landing project showed how a full data science workflow can move from raw data to useful operational insight.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10424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50">
                <a:solidFill>
                  <a:srgbClr val="141820"/>
                </a:solidFill>
                <a:latin typeface="Aptos"/>
              </a:defRPr>
            </a:pPr>
            <a:r>
              <a:t>Data collection and wrangling produced a usable supervised learning dataset.</a:t>
            </a:r>
          </a:p>
          <a:p>
            <a:pPr>
              <a:spcAft>
                <a:spcPts val="800"/>
              </a:spcAft>
              <a:defRPr sz="1450">
                <a:solidFill>
                  <a:srgbClr val="141820"/>
                </a:solidFill>
                <a:latin typeface="Aptos"/>
              </a:defRPr>
            </a:pPr>
            <a:r>
              <a:t>EDA and SQL identified meaningful patterns in site, orbit, payload, booster, and yearly recovery trends.</a:t>
            </a:r>
          </a:p>
          <a:p>
            <a:pPr>
              <a:spcAft>
                <a:spcPts val="800"/>
              </a:spcAft>
              <a:defRPr sz="1450">
                <a:solidFill>
                  <a:srgbClr val="141820"/>
                </a:solidFill>
                <a:latin typeface="Aptos"/>
              </a:defRPr>
            </a:pPr>
            <a:r>
              <a:t>Folium and Dash added interactivity and made the analysis easier to explore.</a:t>
            </a:r>
          </a:p>
          <a:p>
            <a:pPr>
              <a:spcAft>
                <a:spcPts val="800"/>
              </a:spcAft>
              <a:defRPr sz="1450">
                <a:solidFill>
                  <a:srgbClr val="141820"/>
                </a:solidFill>
                <a:latin typeface="Aptos"/>
              </a:defRPr>
            </a:pPr>
            <a:r>
              <a:t>Machine learning models predicted landing outcomes with about 83.3% test accuracy.</a:t>
            </a:r>
          </a:p>
          <a:p>
            <a:pPr>
              <a:spcAft>
                <a:spcPts val="800"/>
              </a:spcAft>
              <a:defRPr sz="1450">
                <a:solidFill>
                  <a:srgbClr val="141820"/>
                </a:solidFill>
                <a:latin typeface="Aptos"/>
              </a:defRPr>
            </a:pPr>
            <a:r>
              <a:t>The main limitation is failure detection, which should be improved with more launch records, richer booster features, and probability calibration.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486400"/>
            <a:ext cx="10332720" cy="594360"/>
          </a:xfrm>
          <a:prstGeom prst="roundRect">
            <a:avLst/>
          </a:prstGeom>
          <a:solidFill>
            <a:srgbClr val="E8F1FC"/>
          </a:solidFill>
          <a:ln>
            <a:solidFill>
              <a:srgbClr val="CA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39" y="5596128"/>
            <a:ext cx="100584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223E"/>
                </a:solidFill>
                <a:latin typeface="Aptos"/>
              </a:rPr>
              <a:t>Final recommendation: use the model as a decision-support tool, not a standalone decision maker. It is strong enough for pattern detection, but not enough for high-risk launch decisions without additional validation.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>
                <a:solidFill>
                  <a:srgbClr val="5A6473"/>
                </a:solidFill>
                <a:latin typeface="Aptos"/>
              </a:rPr>
              <a:t>IBM Data Science Capstone | SpaceX Falcon 9 Landing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800">
                <a:solidFill>
                  <a:srgbClr val="12223E"/>
                </a:solidFill>
                <a:latin typeface="Aptos Display"/>
              </a:rPr>
              <a:t>Final Deliverable Checklist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34440" cy="54864"/>
          </a:xfrm>
          <a:prstGeom prst="rect">
            <a:avLst/>
          </a:prstGeom>
          <a:solidFill>
            <a:srgbClr val="6F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5A6473"/>
                </a:solidFill>
                <a:latin typeface="Aptos"/>
              </a:rPr>
              <a:t>Cooper Robinson | GitHub: https://github.com/cooper-710/Coursera-Capstone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417320"/>
          <a:ext cx="103327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/>
                <a:gridCol w="5166360"/>
              </a:tblGrid>
              <a:tr h="3740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Required component</a:t>
                      </a:r>
                    </a:p>
                  </a:txBody>
                  <a:tcPr marL="45720" marR="45720" marT="27432" marB="27432">
                    <a:solidFill>
                      <a:srgbClr val="1222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Included</a:t>
                      </a:r>
                    </a:p>
                  </a:txBody>
                  <a:tcPr marL="45720" marR="45720" marT="27432" marB="27432">
                    <a:solidFill>
                      <a:srgbClr val="12223E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41820"/>
                          </a:solidFill>
                          <a:latin typeface="Aptos"/>
                        </a:rPr>
                        <a:t>GitHub repository link</a:t>
                      </a:r>
                    </a:p>
                  </a:txBody>
                  <a:tcPr marL="45720" marR="45720" marT="27432" marB="27432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41820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45720" marR="45720" marT="27432" marB="27432">
                    <a:solidFill>
                      <a:srgbClr val="FAFC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41820"/>
                          </a:solidFill>
                          <a:latin typeface="Aptos"/>
                        </a:rPr>
                        <a:t>PDF presentation report</a:t>
                      </a:r>
                    </a:p>
                  </a:txBody>
                  <a:tcPr marL="45720" marR="45720" marT="27432" marB="27432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41820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45720" marR="45720" marT="27432" marB="27432">
                    <a:solidFill>
                      <a:srgbClr val="F0F4FA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41820"/>
                          </a:solidFill>
                          <a:latin typeface="Aptos"/>
                        </a:rPr>
                        <a:t>Executive summary and introduction</a:t>
                      </a:r>
                    </a:p>
                  </a:txBody>
                  <a:tcPr marL="45720" marR="45720" marT="27432" marB="27432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41820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45720" marR="45720" marT="27432" marB="27432">
                    <a:solidFill>
                      <a:srgbClr val="FAFC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41820"/>
                          </a:solidFill>
                          <a:latin typeface="Aptos"/>
                        </a:rPr>
                        <a:t>Data collection and wrangling methodology</a:t>
                      </a:r>
                    </a:p>
                  </a:txBody>
                  <a:tcPr marL="45720" marR="45720" marT="27432" marB="27432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41820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45720" marR="45720" marT="27432" marB="27432">
                    <a:solidFill>
                      <a:srgbClr val="F0F4FA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41820"/>
                          </a:solidFill>
                          <a:latin typeface="Aptos"/>
                        </a:rPr>
                        <a:t>EDA and SQL results</a:t>
                      </a:r>
                    </a:p>
                  </a:txBody>
                  <a:tcPr marL="45720" marR="45720" marT="27432" marB="27432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41820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45720" marR="45720" marT="27432" marB="27432">
                    <a:solidFill>
                      <a:srgbClr val="FAFC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41820"/>
                          </a:solidFill>
                          <a:latin typeface="Aptos"/>
                        </a:rPr>
                        <a:t>Folium map results</a:t>
                      </a:r>
                    </a:p>
                  </a:txBody>
                  <a:tcPr marL="45720" marR="45720" marT="27432" marB="27432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41820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45720" marR="45720" marT="27432" marB="27432">
                    <a:solidFill>
                      <a:srgbClr val="F0F4FA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41820"/>
                          </a:solidFill>
                          <a:latin typeface="Aptos"/>
                        </a:rPr>
                        <a:t>Plotly Dash dashboard results</a:t>
                      </a:r>
                    </a:p>
                  </a:txBody>
                  <a:tcPr marL="45720" marR="45720" marT="27432" marB="27432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41820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45720" marR="45720" marT="27432" marB="27432">
                    <a:solidFill>
                      <a:srgbClr val="FAFC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41820"/>
                          </a:solidFill>
                          <a:latin typeface="Aptos"/>
                        </a:rPr>
                        <a:t>Predictive classification results</a:t>
                      </a:r>
                    </a:p>
                  </a:txBody>
                  <a:tcPr marL="45720" marR="45720" marT="27432" marB="27432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41820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45720" marR="45720" marT="27432" marB="27432">
                    <a:solidFill>
                      <a:srgbClr val="F0F4FA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41820"/>
                          </a:solidFill>
                          <a:latin typeface="Aptos"/>
                        </a:rPr>
                        <a:t>Conclusion</a:t>
                      </a:r>
                    </a:p>
                  </a:txBody>
                  <a:tcPr marL="45720" marR="45720" marT="27432" marB="27432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41820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45720" marR="45720" marT="27432" marB="27432">
                    <a:solidFill>
                      <a:srgbClr val="FAFCFF"/>
                    </a:solidFill>
                  </a:tcPr>
                </a:tc>
              </a:tr>
              <a:tr h="37408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41820"/>
                          </a:solidFill>
                          <a:latin typeface="Aptos"/>
                        </a:rPr>
                        <a:t>Creativity and innovative insights</a:t>
                      </a:r>
                    </a:p>
                  </a:txBody>
                  <a:tcPr marL="45720" marR="45720" marT="27432" marB="27432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41820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45720" marR="45720" marT="27432" marB="27432"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1143000" y="5715000"/>
            <a:ext cx="9875520" cy="502920"/>
          </a:xfrm>
          <a:prstGeom prst="roundRect">
            <a:avLst/>
          </a:prstGeom>
          <a:solidFill>
            <a:srgbClr val="E8F1FC"/>
          </a:solidFill>
          <a:ln>
            <a:solidFill>
              <a:srgbClr val="CA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5824728"/>
            <a:ext cx="9601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223E"/>
                </a:solidFill>
                <a:latin typeface="Aptos"/>
              </a:rPr>
              <a:t>Submission file name: Data Science Capstone Project Report.pdf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>
                <a:solidFill>
                  <a:srgbClr val="5A6473"/>
                </a:solidFill>
                <a:latin typeface="Aptos"/>
              </a:rPr>
              <a:t>IBM Data Science Capstone | SpaceX Falcon 9 Landing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800">
                <a:solidFill>
                  <a:srgbClr val="12223E"/>
                </a:solidFill>
                <a:latin typeface="Aptos Display"/>
              </a:rPr>
              <a:t>Appendix: Additional Visual Outputs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34440" cy="54864"/>
          </a:xfrm>
          <a:prstGeom prst="rect">
            <a:avLst/>
          </a:prstGeom>
          <a:solidFill>
            <a:srgbClr val="6F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5A6473"/>
                </a:solidFill>
                <a:latin typeface="Aptos"/>
              </a:rPr>
              <a:t>Cooper Robinson | GitHub: https://github.com/cooper-710/Coursera-Capstone</a:t>
            </a:r>
          </a:p>
        </p:txBody>
      </p:sp>
      <p:pic>
        <p:nvPicPr>
          <p:cNvPr id="7" name="Picture 6" descr="Fu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39367"/>
            <a:ext cx="3566160" cy="2121865"/>
          </a:xfrm>
          <a:prstGeom prst="rect">
            <a:avLst/>
          </a:prstGeom>
          <a:ln w="7620">
            <a:solidFill>
              <a:srgbClr val="DCE1EB"/>
            </a:solidFill>
          </a:ln>
        </p:spPr>
      </p:pic>
      <p:pic>
        <p:nvPicPr>
          <p:cNvPr id="8" name="Picture 7" descr="U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345311"/>
            <a:ext cx="3566160" cy="2109978"/>
          </a:xfrm>
          <a:prstGeom prst="rect">
            <a:avLst/>
          </a:prstGeom>
          <a:ln w="7620">
            <a:solidFill>
              <a:srgbClr val="DCE1EB"/>
            </a:solidFill>
          </a:ln>
        </p:spPr>
      </p:pic>
      <p:pic>
        <p:nvPicPr>
          <p:cNvPr id="9" name="Picture 8" descr="launch_site_marker_cluster_zoom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1491679"/>
            <a:ext cx="3246120" cy="1817240"/>
          </a:xfrm>
          <a:prstGeom prst="rect">
            <a:avLst/>
          </a:prstGeom>
          <a:ln w="7620">
            <a:solidFill>
              <a:srgbClr val="DCE1EB"/>
            </a:solidFill>
          </a:ln>
        </p:spPr>
      </p:pic>
      <p:pic>
        <p:nvPicPr>
          <p:cNvPr id="10" name="Picture 9" descr="edadataviz_cell46_out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186" y="3840480"/>
            <a:ext cx="2696227" cy="1600200"/>
          </a:xfrm>
          <a:prstGeom prst="rect">
            <a:avLst/>
          </a:prstGeom>
          <a:ln w="7620">
            <a:solidFill>
              <a:srgbClr val="DCE1EB"/>
            </a:solidFill>
          </a:ln>
        </p:spPr>
      </p:pic>
      <p:pic>
        <p:nvPicPr>
          <p:cNvPr id="11" name="Picture 10" descr="edadataviz_cell32_out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0058" y="3703320"/>
            <a:ext cx="3081402" cy="1828800"/>
          </a:xfrm>
          <a:prstGeom prst="rect">
            <a:avLst/>
          </a:prstGeom>
          <a:ln w="7620">
            <a:solidFill>
              <a:srgbClr val="DCE1EB"/>
            </a:solidFill>
          </a:ln>
        </p:spPr>
      </p:pic>
      <p:pic>
        <p:nvPicPr>
          <p:cNvPr id="12" name="Picture 11" descr="Matrix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1689" y="3703320"/>
            <a:ext cx="2944741" cy="1828800"/>
          </a:xfrm>
          <a:prstGeom prst="rect">
            <a:avLst/>
          </a:prstGeom>
          <a:ln w="7620">
            <a:solidFill>
              <a:srgbClr val="DCE1EB"/>
            </a:solidFill>
          </a:ln>
        </p:spPr>
      </p:pic>
      <p:sp>
        <p:nvSpPr>
          <p:cNvPr id="13" name="Rounded Rectangle 12"/>
          <p:cNvSpPr/>
          <p:nvPr/>
        </p:nvSpPr>
        <p:spPr>
          <a:xfrm>
            <a:off x="868680" y="5806440"/>
            <a:ext cx="10287000" cy="411480"/>
          </a:xfrm>
          <a:prstGeom prst="roundRect">
            <a:avLst/>
          </a:prstGeom>
          <a:solidFill>
            <a:srgbClr val="E8F1FC"/>
          </a:solidFill>
          <a:ln>
            <a:solidFill>
              <a:srgbClr val="CA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39" y="5916168"/>
            <a:ext cx="100126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223E"/>
                </a:solidFill>
                <a:latin typeface="Aptos"/>
              </a:rPr>
              <a:t>Additional screenshots and notebook outputs are available in the GitHub images and notebooks folders.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>
                <a:solidFill>
                  <a:srgbClr val="5A6473"/>
                </a:solidFill>
                <a:latin typeface="Aptos"/>
              </a:rPr>
              <a:t>IBM Data Science Capstone | SpaceX Falcon 9 Landing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800">
                <a:solidFill>
                  <a:srgbClr val="12223E"/>
                </a:solidFill>
                <a:latin typeface="Aptos Display"/>
              </a:rPr>
              <a:t>Repository and Submission Reference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34440" cy="54864"/>
          </a:xfrm>
          <a:prstGeom prst="rect">
            <a:avLst/>
          </a:prstGeom>
          <a:solidFill>
            <a:srgbClr val="6F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5A6473"/>
                </a:solidFill>
                <a:latin typeface="Aptos"/>
              </a:rPr>
              <a:t>Cooper Robinson | GitHub: https://github.com/cooper-710/Coursera-Capstone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32004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5A6473"/>
                </a:solidFill>
                <a:latin typeface="Aptos"/>
              </a:rPr>
              <a:t>GitHub repository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106984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2E6CB0"/>
                </a:solidFill>
                <a:latin typeface="Aptos"/>
              </a:rPr>
              <a:t>https://github.com/cooper-710/Coursera-Capstone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889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50">
                <a:solidFill>
                  <a:srgbClr val="141820"/>
                </a:solidFill>
                <a:latin typeface="Aptos"/>
              </a:defRPr>
            </a:pPr>
            <a:r>
              <a:t>Repository includes all completed notebooks, dashboard code, screenshots, README, and requirements file.</a:t>
            </a:r>
          </a:p>
          <a:p>
            <a:pPr>
              <a:spcAft>
                <a:spcPts val="800"/>
              </a:spcAft>
              <a:defRPr sz="1450">
                <a:solidFill>
                  <a:srgbClr val="141820"/>
                </a:solidFill>
                <a:latin typeface="Aptos"/>
              </a:defRPr>
            </a:pPr>
            <a:r>
              <a:t>The PDF version of this deck is the file submitted for the final assignment.</a:t>
            </a:r>
          </a:p>
          <a:p>
            <a:pPr>
              <a:spcAft>
                <a:spcPts val="800"/>
              </a:spcAft>
              <a:defRPr sz="1450">
                <a:solidFill>
                  <a:srgbClr val="141820"/>
                </a:solidFill>
                <a:latin typeface="Aptos"/>
              </a:defRPr>
            </a:pPr>
            <a:r>
              <a:t>The analysis was completed using the IBM Data Science Capstone SpaceX Falcon 9 project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120640"/>
            <a:ext cx="10287000" cy="685800"/>
          </a:xfrm>
          <a:prstGeom prst="roundRect">
            <a:avLst/>
          </a:prstGeom>
          <a:solidFill>
            <a:srgbClr val="E8F1FC"/>
          </a:solidFill>
          <a:ln>
            <a:solidFill>
              <a:srgbClr val="CA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5230368"/>
            <a:ext cx="100126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223E"/>
                </a:solidFill>
                <a:latin typeface="Aptos"/>
              </a:rPr>
              <a:t>File to submit: Data Science Capstone Project Report.pdf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